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Eastman Alternate Trial Bold" charset="1" panose="00000700000000000000"/>
      <p:regular r:id="rId16"/>
    </p:embeddedFont>
    <p:embeddedFont>
      <p:font typeface="Eastman Alternate Trial Ultra-Bold" charset="1" panose="00000800000000000000"/>
      <p:regular r:id="rId17"/>
    </p:embeddedFont>
    <p:embeddedFont>
      <p:font typeface="Neulis Neue Bold" charset="1" panose="00000000000000000000"/>
      <p:regular r:id="rId18"/>
    </p:embeddedFont>
    <p:embeddedFont>
      <p:font typeface="Neulis Neue Medium" charset="1" panose="00000000000000000000"/>
      <p:regular r:id="rId19"/>
    </p:embeddedFont>
    <p:embeddedFont>
      <p:font typeface="Nourd Semi-Bold" charset="1" panose="00000700000000000000"/>
      <p:regular r:id="rId20"/>
    </p:embeddedFont>
    <p:embeddedFont>
      <p:font typeface="Neulis Neue" charset="1" panose="00000000000000000000"/>
      <p:regular r:id="rId21"/>
    </p:embeddedFont>
    <p:embeddedFont>
      <p:font typeface="Lato Bold" charset="1" panose="020F050202020403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1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9.png" Type="http://schemas.openxmlformats.org/officeDocument/2006/relationships/image"/><Relationship Id="rId23" Target="../media/image30.svg" Type="http://schemas.openxmlformats.org/officeDocument/2006/relationships/image"/><Relationship Id="rId24" Target="../media/image31.png" Type="http://schemas.openxmlformats.org/officeDocument/2006/relationships/image"/><Relationship Id="rId25" Target="../media/image32.svg" Type="http://schemas.openxmlformats.org/officeDocument/2006/relationships/image"/><Relationship Id="rId26" Target="../media/image33.png" Type="http://schemas.openxmlformats.org/officeDocument/2006/relationships/image"/><Relationship Id="rId27" Target="../media/image34.svg" Type="http://schemas.openxmlformats.org/officeDocument/2006/relationships/image"/><Relationship Id="rId28" Target="../media/image35.png" Type="http://schemas.openxmlformats.org/officeDocument/2006/relationships/image"/><Relationship Id="rId29" Target="../media/image36.svg" Type="http://schemas.openxmlformats.org/officeDocument/2006/relationships/image"/><Relationship Id="rId3" Target="../media/image12.png" Type="http://schemas.openxmlformats.org/officeDocument/2006/relationships/image"/><Relationship Id="rId30" Target="../media/image37.png" Type="http://schemas.openxmlformats.org/officeDocument/2006/relationships/image"/><Relationship Id="rId31" Target="../media/image38.svg" Type="http://schemas.openxmlformats.org/officeDocument/2006/relationships/image"/><Relationship Id="rId32" Target="../media/image39.png" Type="http://schemas.openxmlformats.org/officeDocument/2006/relationships/image"/><Relationship Id="rId33" Target="../media/image40.svg" Type="http://schemas.openxmlformats.org/officeDocument/2006/relationships/image"/><Relationship Id="rId34" Target="../media/image41.png" Type="http://schemas.openxmlformats.org/officeDocument/2006/relationships/image"/><Relationship Id="rId35" Target="../media/image42.svg" Type="http://schemas.openxmlformats.org/officeDocument/2006/relationships/image"/><Relationship Id="rId36" Target="../media/image43.png" Type="http://schemas.openxmlformats.org/officeDocument/2006/relationships/image"/><Relationship Id="rId37" Target="../media/image44.svg" Type="http://schemas.openxmlformats.org/officeDocument/2006/relationships/image"/><Relationship Id="rId38" Target="../media/image45.png" Type="http://schemas.openxmlformats.org/officeDocument/2006/relationships/image"/><Relationship Id="rId39" Target="../media/image46.svg" Type="http://schemas.openxmlformats.org/officeDocument/2006/relationships/image"/><Relationship Id="rId4" Target="../media/image13.png" Type="http://schemas.openxmlformats.org/officeDocument/2006/relationships/image"/><Relationship Id="rId40" Target="../media/image47.png" Type="http://schemas.openxmlformats.org/officeDocument/2006/relationships/image"/><Relationship Id="rId41" Target="../media/image48.svg" Type="http://schemas.openxmlformats.org/officeDocument/2006/relationships/image"/><Relationship Id="rId42" Target="../media/image49.png" Type="http://schemas.openxmlformats.org/officeDocument/2006/relationships/image"/><Relationship Id="rId43" Target="../media/image50.svg" Type="http://schemas.openxmlformats.org/officeDocument/2006/relationships/image"/><Relationship Id="rId44" Target="../media/image51.png" Type="http://schemas.openxmlformats.org/officeDocument/2006/relationships/image"/><Relationship Id="rId45" Target="../media/image5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18" Target="../media/image56.png" Type="http://schemas.openxmlformats.org/officeDocument/2006/relationships/image"/><Relationship Id="rId19" Target="../media/image57.svg" Type="http://schemas.openxmlformats.org/officeDocument/2006/relationships/image"/><Relationship Id="rId2" Target="../media/image53.png" Type="http://schemas.openxmlformats.org/officeDocument/2006/relationships/image"/><Relationship Id="rId20" Target="../media/image58.png" Type="http://schemas.openxmlformats.org/officeDocument/2006/relationships/image"/><Relationship Id="rId21" Target="../media/image59.svg" Type="http://schemas.openxmlformats.org/officeDocument/2006/relationships/image"/><Relationship Id="rId22" Target="../media/image60.png" Type="http://schemas.openxmlformats.org/officeDocument/2006/relationships/image"/><Relationship Id="rId23" Target="../media/image61.svg" Type="http://schemas.openxmlformats.org/officeDocument/2006/relationships/image"/><Relationship Id="rId24" Target="../media/image62.png" Type="http://schemas.openxmlformats.org/officeDocument/2006/relationships/image"/><Relationship Id="rId25" Target="../media/image63.svg" Type="http://schemas.openxmlformats.org/officeDocument/2006/relationships/image"/><Relationship Id="rId26" Target="../media/image64.png" Type="http://schemas.openxmlformats.org/officeDocument/2006/relationships/image"/><Relationship Id="rId27" Target="../media/image65.svg" Type="http://schemas.openxmlformats.org/officeDocument/2006/relationships/image"/><Relationship Id="rId28" Target="../media/image66.png" Type="http://schemas.openxmlformats.org/officeDocument/2006/relationships/image"/><Relationship Id="rId29" Target="../media/image67.svg" Type="http://schemas.openxmlformats.org/officeDocument/2006/relationships/image"/><Relationship Id="rId3" Target="../media/image54.png" Type="http://schemas.openxmlformats.org/officeDocument/2006/relationships/image"/><Relationship Id="rId30" Target="../media/image68.png" Type="http://schemas.openxmlformats.org/officeDocument/2006/relationships/image"/><Relationship Id="rId31" Target="../media/image69.svg" Type="http://schemas.openxmlformats.org/officeDocument/2006/relationships/image"/><Relationship Id="rId32" Target="../media/image14.png" Type="http://schemas.openxmlformats.org/officeDocument/2006/relationships/image"/><Relationship Id="rId4" Target="../media/image55.png" Type="http://schemas.openxmlformats.org/officeDocument/2006/relationships/image"/><Relationship Id="rId5" Target="../media/image13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70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22" Target="../media/image77.png" Type="http://schemas.openxmlformats.org/officeDocument/2006/relationships/image"/><Relationship Id="rId23" Target="../media/image78.svg" Type="http://schemas.openxmlformats.org/officeDocument/2006/relationships/image"/><Relationship Id="rId24" Target="../media/image79.png" Type="http://schemas.openxmlformats.org/officeDocument/2006/relationships/image"/><Relationship Id="rId25" Target="../media/image80.svg" Type="http://schemas.openxmlformats.org/officeDocument/2006/relationships/image"/><Relationship Id="rId26" Target="../media/image81.png" Type="http://schemas.openxmlformats.org/officeDocument/2006/relationships/image"/><Relationship Id="rId27" Target="../media/image82.svg" Type="http://schemas.openxmlformats.org/officeDocument/2006/relationships/image"/><Relationship Id="rId28" Target="../media/image83.png" Type="http://schemas.openxmlformats.org/officeDocument/2006/relationships/image"/><Relationship Id="rId29" Target="../media/image84.svg" Type="http://schemas.openxmlformats.org/officeDocument/2006/relationships/image"/><Relationship Id="rId3" Target="../media/image71.png" Type="http://schemas.openxmlformats.org/officeDocument/2006/relationships/image"/><Relationship Id="rId30" Target="../media/image85.png" Type="http://schemas.openxmlformats.org/officeDocument/2006/relationships/image"/><Relationship Id="rId31" Target="../media/image86.svg" Type="http://schemas.openxmlformats.org/officeDocument/2006/relationships/image"/><Relationship Id="rId32" Target="../media/image87.png" Type="http://schemas.openxmlformats.org/officeDocument/2006/relationships/image"/><Relationship Id="rId33" Target="../media/image88.svg" Type="http://schemas.openxmlformats.org/officeDocument/2006/relationships/image"/><Relationship Id="rId34" Target="../media/image89.png" Type="http://schemas.openxmlformats.org/officeDocument/2006/relationships/image"/><Relationship Id="rId35" Target="../media/image90.sv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91.png" Type="http://schemas.openxmlformats.org/officeDocument/2006/relationships/image"/><Relationship Id="rId14" Target="../media/image92.svg" Type="http://schemas.openxmlformats.org/officeDocument/2006/relationships/image"/><Relationship Id="rId2" Target="../media/image13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13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79.png" Type="http://schemas.openxmlformats.org/officeDocument/2006/relationships/image"/><Relationship Id="rId19" Target="../media/image80.svg" Type="http://schemas.openxmlformats.org/officeDocument/2006/relationships/image"/><Relationship Id="rId2" Target="../media/image93.png" Type="http://schemas.openxmlformats.org/officeDocument/2006/relationships/image"/><Relationship Id="rId20" Target="../media/image37.png" Type="http://schemas.openxmlformats.org/officeDocument/2006/relationships/image"/><Relationship Id="rId21" Target="../media/image38.svg" Type="http://schemas.openxmlformats.org/officeDocument/2006/relationships/image"/><Relationship Id="rId22" Target="../media/image39.png" Type="http://schemas.openxmlformats.org/officeDocument/2006/relationships/image"/><Relationship Id="rId23" Target="../media/image40.svg" Type="http://schemas.openxmlformats.org/officeDocument/2006/relationships/image"/><Relationship Id="rId24" Target="../media/image41.png" Type="http://schemas.openxmlformats.org/officeDocument/2006/relationships/image"/><Relationship Id="rId25" Target="../media/image42.svg" Type="http://schemas.openxmlformats.org/officeDocument/2006/relationships/image"/><Relationship Id="rId26" Target="../media/image100.png" Type="http://schemas.openxmlformats.org/officeDocument/2006/relationships/image"/><Relationship Id="rId27" Target="../media/image85.png" Type="http://schemas.openxmlformats.org/officeDocument/2006/relationships/image"/><Relationship Id="rId28" Target="../media/image86.sv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13" Target="../media/image109.png" Type="http://schemas.openxmlformats.org/officeDocument/2006/relationships/image"/><Relationship Id="rId14" Target="../media/image110.svg" Type="http://schemas.openxmlformats.org/officeDocument/2006/relationships/image"/><Relationship Id="rId15" Target="../media/image111.png" Type="http://schemas.openxmlformats.org/officeDocument/2006/relationships/image"/><Relationship Id="rId16" Target="../media/image112.svg" Type="http://schemas.openxmlformats.org/officeDocument/2006/relationships/image"/><Relationship Id="rId17" Target="../media/image113.png" Type="http://schemas.openxmlformats.org/officeDocument/2006/relationships/image"/><Relationship Id="rId18" Target="../media/image114.svg" Type="http://schemas.openxmlformats.org/officeDocument/2006/relationships/image"/><Relationship Id="rId19" Target="../media/image115.png" Type="http://schemas.openxmlformats.org/officeDocument/2006/relationships/image"/><Relationship Id="rId2" Target="../media/image101.png" Type="http://schemas.openxmlformats.org/officeDocument/2006/relationships/image"/><Relationship Id="rId20" Target="../media/image116.svg" Type="http://schemas.openxmlformats.org/officeDocument/2006/relationships/image"/><Relationship Id="rId21" Target="../media/image117.png" Type="http://schemas.openxmlformats.org/officeDocument/2006/relationships/image"/><Relationship Id="rId22" Target="../media/image118.svg" Type="http://schemas.openxmlformats.org/officeDocument/2006/relationships/image"/><Relationship Id="rId23" Target="../media/image119.png" Type="http://schemas.openxmlformats.org/officeDocument/2006/relationships/image"/><Relationship Id="rId24" Target="../media/image120.svg" Type="http://schemas.openxmlformats.org/officeDocument/2006/relationships/image"/><Relationship Id="rId25" Target="../media/image121.png" Type="http://schemas.openxmlformats.org/officeDocument/2006/relationships/image"/><Relationship Id="rId26" Target="../media/image122.svg" Type="http://schemas.openxmlformats.org/officeDocument/2006/relationships/image"/><Relationship Id="rId27" Target="../media/image33.png" Type="http://schemas.openxmlformats.org/officeDocument/2006/relationships/image"/><Relationship Id="rId28" Target="../media/image34.svg" Type="http://schemas.openxmlformats.org/officeDocument/2006/relationships/image"/><Relationship Id="rId29" Target="../media/image35.png" Type="http://schemas.openxmlformats.org/officeDocument/2006/relationships/image"/><Relationship Id="rId3" Target="../media/image102.png" Type="http://schemas.openxmlformats.org/officeDocument/2006/relationships/image"/><Relationship Id="rId30" Target="../media/image36.svg" Type="http://schemas.openxmlformats.org/officeDocument/2006/relationships/image"/><Relationship Id="rId31" Target="../media/image37.png" Type="http://schemas.openxmlformats.org/officeDocument/2006/relationships/image"/><Relationship Id="rId32" Target="../media/image38.svg" Type="http://schemas.openxmlformats.org/officeDocument/2006/relationships/image"/><Relationship Id="rId33" Target="../media/image39.png" Type="http://schemas.openxmlformats.org/officeDocument/2006/relationships/image"/><Relationship Id="rId34" Target="../media/image40.svg" Type="http://schemas.openxmlformats.org/officeDocument/2006/relationships/image"/><Relationship Id="rId35" Target="../media/image41.png" Type="http://schemas.openxmlformats.org/officeDocument/2006/relationships/image"/><Relationship Id="rId36" Target="../media/image42.svg" Type="http://schemas.openxmlformats.org/officeDocument/2006/relationships/image"/><Relationship Id="rId37" Target="../media/image123.png" Type="http://schemas.openxmlformats.org/officeDocument/2006/relationships/image"/><Relationship Id="rId38" Target="../media/image124.svg" Type="http://schemas.openxmlformats.org/officeDocument/2006/relationships/image"/><Relationship Id="rId39" Target="../media/image125.png" Type="http://schemas.openxmlformats.org/officeDocument/2006/relationships/image"/><Relationship Id="rId4" Target="../media/image103.png" Type="http://schemas.openxmlformats.org/officeDocument/2006/relationships/image"/><Relationship Id="rId40" Target="../media/image126.svg" Type="http://schemas.openxmlformats.org/officeDocument/2006/relationships/image"/><Relationship Id="rId5" Target="../media/image104.png" Type="http://schemas.openxmlformats.org/officeDocument/2006/relationships/image"/><Relationship Id="rId6" Target="../media/image13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svg" Type="http://schemas.openxmlformats.org/officeDocument/2006/relationships/image"/><Relationship Id="rId11" Target="../media/image133.png" Type="http://schemas.openxmlformats.org/officeDocument/2006/relationships/image"/><Relationship Id="rId12" Target="../media/image134.svg" Type="http://schemas.openxmlformats.org/officeDocument/2006/relationships/image"/><Relationship Id="rId13" Target="../media/image135.png" Type="http://schemas.openxmlformats.org/officeDocument/2006/relationships/image"/><Relationship Id="rId14" Target="../media/image136.svg" Type="http://schemas.openxmlformats.org/officeDocument/2006/relationships/image"/><Relationship Id="rId15" Target="../media/image33.png" Type="http://schemas.openxmlformats.org/officeDocument/2006/relationships/image"/><Relationship Id="rId16" Target="../media/image34.svg" Type="http://schemas.openxmlformats.org/officeDocument/2006/relationships/image"/><Relationship Id="rId17" Target="../media/image35.png" Type="http://schemas.openxmlformats.org/officeDocument/2006/relationships/image"/><Relationship Id="rId18" Target="../media/image36.svg" Type="http://schemas.openxmlformats.org/officeDocument/2006/relationships/image"/><Relationship Id="rId19" Target="../media/image37.png" Type="http://schemas.openxmlformats.org/officeDocument/2006/relationships/image"/><Relationship Id="rId2" Target="../media/image13.png" Type="http://schemas.openxmlformats.org/officeDocument/2006/relationships/image"/><Relationship Id="rId20" Target="../media/image38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41.png" Type="http://schemas.openxmlformats.org/officeDocument/2006/relationships/image"/><Relationship Id="rId24" Target="../media/image42.sv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27.png" Type="http://schemas.openxmlformats.org/officeDocument/2006/relationships/image"/><Relationship Id="rId6" Target="../media/image128.svg" Type="http://schemas.openxmlformats.org/officeDocument/2006/relationships/image"/><Relationship Id="rId7" Target="../media/image129.png" Type="http://schemas.openxmlformats.org/officeDocument/2006/relationships/image"/><Relationship Id="rId8" Target="../media/image130.svg" Type="http://schemas.openxmlformats.org/officeDocument/2006/relationships/image"/><Relationship Id="rId9" Target="../media/image1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14" Target="../media/image42.svg" Type="http://schemas.openxmlformats.org/officeDocument/2006/relationships/image"/><Relationship Id="rId15" Target="../media/image137.png" Type="http://schemas.openxmlformats.org/officeDocument/2006/relationships/image"/><Relationship Id="rId16" Target="../media/image138.svg" Type="http://schemas.openxmlformats.org/officeDocument/2006/relationships/image"/><Relationship Id="rId17" Target="../media/image139.png" Type="http://schemas.openxmlformats.org/officeDocument/2006/relationships/image"/><Relationship Id="rId18" Target="../media/image140.svg" Type="http://schemas.openxmlformats.org/officeDocument/2006/relationships/image"/><Relationship Id="rId19" Target="../media/image141.png" Type="http://schemas.openxmlformats.org/officeDocument/2006/relationships/image"/><Relationship Id="rId2" Target="../media/image13.png" Type="http://schemas.openxmlformats.org/officeDocument/2006/relationships/image"/><Relationship Id="rId20" Target="../media/image142.svg" Type="http://schemas.openxmlformats.org/officeDocument/2006/relationships/image"/><Relationship Id="rId21" Target="../media/image14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9" y="5356674"/>
            <a:ext cx="4569571" cy="4930326"/>
          </a:xfrm>
          <a:custGeom>
            <a:avLst/>
            <a:gdLst/>
            <a:ahLst/>
            <a:cxnLst/>
            <a:rect r="r" b="b" t="t" l="l"/>
            <a:pathLst>
              <a:path h="4930326" w="4569571">
                <a:moveTo>
                  <a:pt x="0" y="0"/>
                </a:moveTo>
                <a:lnTo>
                  <a:pt x="4569570" y="0"/>
                </a:lnTo>
                <a:lnTo>
                  <a:pt x="4569570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21278" y="0"/>
            <a:ext cx="4361863" cy="3651284"/>
          </a:xfrm>
          <a:custGeom>
            <a:avLst/>
            <a:gdLst/>
            <a:ahLst/>
            <a:cxnLst/>
            <a:rect r="r" b="b" t="t" l="l"/>
            <a:pathLst>
              <a:path h="3651284" w="4361863">
                <a:moveTo>
                  <a:pt x="0" y="0"/>
                </a:moveTo>
                <a:lnTo>
                  <a:pt x="4361863" y="0"/>
                </a:lnTo>
                <a:lnTo>
                  <a:pt x="4361863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7732542" y="2205962"/>
            <a:ext cx="1967758" cy="2153601"/>
          </a:xfrm>
          <a:custGeom>
            <a:avLst/>
            <a:gdLst/>
            <a:ahLst/>
            <a:cxnLst/>
            <a:rect r="r" b="b" t="t" l="l"/>
            <a:pathLst>
              <a:path h="2153601" w="1967758">
                <a:moveTo>
                  <a:pt x="0" y="0"/>
                </a:moveTo>
                <a:lnTo>
                  <a:pt x="1967757" y="0"/>
                </a:lnTo>
                <a:lnTo>
                  <a:pt x="1967757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59" y="9849721"/>
            <a:ext cx="4569571" cy="437279"/>
          </a:xfrm>
          <a:custGeom>
            <a:avLst/>
            <a:gdLst/>
            <a:ahLst/>
            <a:cxnLst/>
            <a:rect r="r" b="b" t="t" l="l"/>
            <a:pathLst>
              <a:path h="437279" w="4569571">
                <a:moveTo>
                  <a:pt x="0" y="0"/>
                </a:moveTo>
                <a:lnTo>
                  <a:pt x="4569570" y="0"/>
                </a:lnTo>
                <a:lnTo>
                  <a:pt x="45695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55790" y="9849721"/>
            <a:ext cx="5006850" cy="437279"/>
          </a:xfrm>
          <a:custGeom>
            <a:avLst/>
            <a:gdLst/>
            <a:ahLst/>
            <a:cxnLst/>
            <a:rect r="r" b="b" t="t" l="l"/>
            <a:pathLst>
              <a:path h="437279" w="5006850">
                <a:moveTo>
                  <a:pt x="0" y="0"/>
                </a:moveTo>
                <a:lnTo>
                  <a:pt x="5006850" y="0"/>
                </a:lnTo>
                <a:lnTo>
                  <a:pt x="50068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9849721"/>
            <a:ext cx="4788210" cy="437279"/>
          </a:xfrm>
          <a:custGeom>
            <a:avLst/>
            <a:gdLst/>
            <a:ahLst/>
            <a:cxnLst/>
            <a:rect r="r" b="b" t="t" l="l"/>
            <a:pathLst>
              <a:path h="437279" w="4788210">
                <a:moveTo>
                  <a:pt x="0" y="0"/>
                </a:moveTo>
                <a:lnTo>
                  <a:pt x="4788210" y="0"/>
                </a:lnTo>
                <a:lnTo>
                  <a:pt x="478821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3571" y="9849721"/>
            <a:ext cx="4569571" cy="437279"/>
          </a:xfrm>
          <a:custGeom>
            <a:avLst/>
            <a:gdLst/>
            <a:ahLst/>
            <a:cxnLst/>
            <a:rect r="r" b="b" t="t" l="l"/>
            <a:pathLst>
              <a:path h="437279" w="4569571">
                <a:moveTo>
                  <a:pt x="0" y="0"/>
                </a:moveTo>
                <a:lnTo>
                  <a:pt x="4569570" y="0"/>
                </a:lnTo>
                <a:lnTo>
                  <a:pt x="45695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07885" y="3263439"/>
            <a:ext cx="8472230" cy="3505385"/>
          </a:xfrm>
          <a:custGeom>
            <a:avLst/>
            <a:gdLst/>
            <a:ahLst/>
            <a:cxnLst/>
            <a:rect r="r" b="b" t="t" l="l"/>
            <a:pathLst>
              <a:path h="3505385" w="8472230">
                <a:moveTo>
                  <a:pt x="0" y="0"/>
                </a:moveTo>
                <a:lnTo>
                  <a:pt x="8472230" y="0"/>
                </a:lnTo>
                <a:lnTo>
                  <a:pt x="8472230" y="3505385"/>
                </a:lnTo>
                <a:lnTo>
                  <a:pt x="0" y="35053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04332" y="6535695"/>
            <a:ext cx="2527914" cy="68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6"/>
              </a:lnSpc>
            </a:pPr>
            <a:r>
              <a:rPr lang="en-US" b="true" sz="4019" spc="-144">
                <a:solidFill>
                  <a:srgbClr val="9A9C9F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Educação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20" t="-26" r="0" b="-27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5487" y="515587"/>
            <a:ext cx="229572" cy="655919"/>
          </a:xfrm>
          <a:custGeom>
            <a:avLst/>
            <a:gdLst/>
            <a:ahLst/>
            <a:cxnLst/>
            <a:rect r="r" b="b" t="t" l="l"/>
            <a:pathLst>
              <a:path h="655919" w="229572">
                <a:moveTo>
                  <a:pt x="0" y="0"/>
                </a:moveTo>
                <a:lnTo>
                  <a:pt x="229571" y="0"/>
                </a:lnTo>
                <a:lnTo>
                  <a:pt x="229571" y="655920"/>
                </a:lnTo>
                <a:lnTo>
                  <a:pt x="0" y="655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49592" y="51558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2" y="0"/>
                </a:lnTo>
                <a:lnTo>
                  <a:pt x="2295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81621" y="507971"/>
            <a:ext cx="2083982" cy="972874"/>
            <a:chOff x="0" y="0"/>
            <a:chExt cx="2778642" cy="12971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63141" y="-1369103"/>
            <a:ext cx="7135826" cy="5933914"/>
            <a:chOff x="0" y="0"/>
            <a:chExt cx="97743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7432" cy="812800"/>
            </a:xfrm>
            <a:custGeom>
              <a:avLst/>
              <a:gdLst/>
              <a:ahLst/>
              <a:cxnLst/>
              <a:rect r="r" b="b" t="t" l="l"/>
              <a:pathLst>
                <a:path h="812800" w="977432">
                  <a:moveTo>
                    <a:pt x="24954" y="0"/>
                  </a:moveTo>
                  <a:lnTo>
                    <a:pt x="952479" y="0"/>
                  </a:lnTo>
                  <a:cubicBezTo>
                    <a:pt x="966260" y="0"/>
                    <a:pt x="977432" y="11172"/>
                    <a:pt x="977432" y="24954"/>
                  </a:cubicBezTo>
                  <a:lnTo>
                    <a:pt x="977432" y="787846"/>
                  </a:lnTo>
                  <a:cubicBezTo>
                    <a:pt x="977432" y="794465"/>
                    <a:pt x="974803" y="800812"/>
                    <a:pt x="970123" y="805491"/>
                  </a:cubicBezTo>
                  <a:cubicBezTo>
                    <a:pt x="965444" y="810171"/>
                    <a:pt x="959097" y="812800"/>
                    <a:pt x="952479" y="812800"/>
                  </a:cubicBezTo>
                  <a:lnTo>
                    <a:pt x="24954" y="812800"/>
                  </a:lnTo>
                  <a:cubicBezTo>
                    <a:pt x="11172" y="812800"/>
                    <a:pt x="0" y="801628"/>
                    <a:pt x="0" y="787846"/>
                  </a:cubicBezTo>
                  <a:lnTo>
                    <a:pt x="0" y="24954"/>
                  </a:lnTo>
                  <a:cubicBezTo>
                    <a:pt x="0" y="11172"/>
                    <a:pt x="11172" y="0"/>
                    <a:pt x="24954" y="0"/>
                  </a:cubicBezTo>
                  <a:close/>
                </a:path>
              </a:pathLst>
            </a:custGeom>
            <a:blipFill>
              <a:blip r:embed="rId7"/>
              <a:stretch>
                <a:fillRect l="-21811" t="0" r="-1348" b="-1992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166386" y="4893307"/>
            <a:ext cx="212198" cy="1788529"/>
          </a:xfrm>
          <a:custGeom>
            <a:avLst/>
            <a:gdLst/>
            <a:ahLst/>
            <a:cxnLst/>
            <a:rect r="r" b="b" t="t" l="l"/>
            <a:pathLst>
              <a:path h="1788529" w="212198">
                <a:moveTo>
                  <a:pt x="0" y="0"/>
                </a:moveTo>
                <a:lnTo>
                  <a:pt x="212198" y="0"/>
                </a:lnTo>
                <a:lnTo>
                  <a:pt x="212198" y="1788529"/>
                </a:lnTo>
                <a:lnTo>
                  <a:pt x="0" y="17885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75124" y="4893307"/>
            <a:ext cx="212198" cy="1788529"/>
          </a:xfrm>
          <a:custGeom>
            <a:avLst/>
            <a:gdLst/>
            <a:ahLst/>
            <a:cxnLst/>
            <a:rect r="r" b="b" t="t" l="l"/>
            <a:pathLst>
              <a:path h="1788529" w="212198">
                <a:moveTo>
                  <a:pt x="0" y="0"/>
                </a:moveTo>
                <a:lnTo>
                  <a:pt x="212199" y="0"/>
                </a:lnTo>
                <a:lnTo>
                  <a:pt x="212199" y="1788529"/>
                </a:lnTo>
                <a:lnTo>
                  <a:pt x="0" y="17885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85956" y="4893307"/>
            <a:ext cx="212198" cy="1788529"/>
          </a:xfrm>
          <a:custGeom>
            <a:avLst/>
            <a:gdLst/>
            <a:ahLst/>
            <a:cxnLst/>
            <a:rect r="r" b="b" t="t" l="l"/>
            <a:pathLst>
              <a:path h="1788529" w="212198">
                <a:moveTo>
                  <a:pt x="0" y="0"/>
                </a:moveTo>
                <a:lnTo>
                  <a:pt x="212198" y="0"/>
                </a:lnTo>
                <a:lnTo>
                  <a:pt x="212198" y="1788529"/>
                </a:lnTo>
                <a:lnTo>
                  <a:pt x="0" y="1788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00975" y="4893307"/>
            <a:ext cx="212198" cy="1788529"/>
          </a:xfrm>
          <a:custGeom>
            <a:avLst/>
            <a:gdLst/>
            <a:ahLst/>
            <a:cxnLst/>
            <a:rect r="r" b="b" t="t" l="l"/>
            <a:pathLst>
              <a:path h="1788529" w="212198">
                <a:moveTo>
                  <a:pt x="0" y="0"/>
                </a:moveTo>
                <a:lnTo>
                  <a:pt x="212198" y="0"/>
                </a:lnTo>
                <a:lnTo>
                  <a:pt x="212198" y="1788529"/>
                </a:lnTo>
                <a:lnTo>
                  <a:pt x="0" y="17885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11807" y="4893307"/>
            <a:ext cx="212198" cy="1788529"/>
          </a:xfrm>
          <a:custGeom>
            <a:avLst/>
            <a:gdLst/>
            <a:ahLst/>
            <a:cxnLst/>
            <a:rect r="r" b="b" t="t" l="l"/>
            <a:pathLst>
              <a:path h="1788529" w="212198">
                <a:moveTo>
                  <a:pt x="0" y="0"/>
                </a:moveTo>
                <a:lnTo>
                  <a:pt x="212198" y="0"/>
                </a:lnTo>
                <a:lnTo>
                  <a:pt x="212198" y="1788529"/>
                </a:lnTo>
                <a:lnTo>
                  <a:pt x="0" y="17885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511731" y="7273018"/>
            <a:ext cx="229572" cy="1934962"/>
          </a:xfrm>
          <a:custGeom>
            <a:avLst/>
            <a:gdLst/>
            <a:ahLst/>
            <a:cxnLst/>
            <a:rect r="r" b="b" t="t" l="l"/>
            <a:pathLst>
              <a:path h="1934962" w="229572">
                <a:moveTo>
                  <a:pt x="0" y="0"/>
                </a:moveTo>
                <a:lnTo>
                  <a:pt x="229572" y="0"/>
                </a:lnTo>
                <a:lnTo>
                  <a:pt x="22957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915408" y="4962884"/>
            <a:ext cx="860453" cy="425924"/>
          </a:xfrm>
          <a:custGeom>
            <a:avLst/>
            <a:gdLst/>
            <a:ahLst/>
            <a:cxnLst/>
            <a:rect r="r" b="b" t="t" l="l"/>
            <a:pathLst>
              <a:path h="425924" w="860453">
                <a:moveTo>
                  <a:pt x="0" y="0"/>
                </a:moveTo>
                <a:lnTo>
                  <a:pt x="860453" y="0"/>
                </a:lnTo>
                <a:lnTo>
                  <a:pt x="860453" y="425924"/>
                </a:lnTo>
                <a:lnTo>
                  <a:pt x="0" y="4259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30775" y="4959188"/>
            <a:ext cx="577314" cy="583146"/>
          </a:xfrm>
          <a:custGeom>
            <a:avLst/>
            <a:gdLst/>
            <a:ahLst/>
            <a:cxnLst/>
            <a:rect r="r" b="b" t="t" l="l"/>
            <a:pathLst>
              <a:path h="583146" w="577314">
                <a:moveTo>
                  <a:pt x="0" y="0"/>
                </a:moveTo>
                <a:lnTo>
                  <a:pt x="577314" y="0"/>
                </a:lnTo>
                <a:lnTo>
                  <a:pt x="577314" y="583146"/>
                </a:lnTo>
                <a:lnTo>
                  <a:pt x="0" y="5831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43229" y="4893165"/>
            <a:ext cx="583288" cy="583288"/>
          </a:xfrm>
          <a:custGeom>
            <a:avLst/>
            <a:gdLst/>
            <a:ahLst/>
            <a:cxnLst/>
            <a:rect r="r" b="b" t="t" l="l"/>
            <a:pathLst>
              <a:path h="583288" w="583288">
                <a:moveTo>
                  <a:pt x="0" y="0"/>
                </a:moveTo>
                <a:lnTo>
                  <a:pt x="583288" y="0"/>
                </a:lnTo>
                <a:lnTo>
                  <a:pt x="583288" y="583288"/>
                </a:lnTo>
                <a:lnTo>
                  <a:pt x="0" y="5832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232298" y="4852133"/>
            <a:ext cx="792086" cy="665352"/>
          </a:xfrm>
          <a:custGeom>
            <a:avLst/>
            <a:gdLst/>
            <a:ahLst/>
            <a:cxnLst/>
            <a:rect r="r" b="b" t="t" l="l"/>
            <a:pathLst>
              <a:path h="665352" w="792086">
                <a:moveTo>
                  <a:pt x="0" y="0"/>
                </a:moveTo>
                <a:lnTo>
                  <a:pt x="792086" y="0"/>
                </a:lnTo>
                <a:lnTo>
                  <a:pt x="792086" y="665352"/>
                </a:lnTo>
                <a:lnTo>
                  <a:pt x="0" y="6653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07599" y="4921259"/>
            <a:ext cx="603662" cy="603662"/>
          </a:xfrm>
          <a:custGeom>
            <a:avLst/>
            <a:gdLst/>
            <a:ahLst/>
            <a:cxnLst/>
            <a:rect r="r" b="b" t="t" l="l"/>
            <a:pathLst>
              <a:path h="603662" w="603662">
                <a:moveTo>
                  <a:pt x="0" y="0"/>
                </a:moveTo>
                <a:lnTo>
                  <a:pt x="603662" y="0"/>
                </a:lnTo>
                <a:lnTo>
                  <a:pt x="603662" y="603662"/>
                </a:lnTo>
                <a:lnTo>
                  <a:pt x="0" y="6036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24386" y="4962884"/>
            <a:ext cx="661786" cy="575754"/>
          </a:xfrm>
          <a:custGeom>
            <a:avLst/>
            <a:gdLst/>
            <a:ahLst/>
            <a:cxnLst/>
            <a:rect r="r" b="b" t="t" l="l"/>
            <a:pathLst>
              <a:path h="575754" w="661786">
                <a:moveTo>
                  <a:pt x="0" y="0"/>
                </a:moveTo>
                <a:lnTo>
                  <a:pt x="661786" y="0"/>
                </a:lnTo>
                <a:lnTo>
                  <a:pt x="661786" y="575754"/>
                </a:lnTo>
                <a:lnTo>
                  <a:pt x="0" y="57575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23" id="23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26" id="26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 rot="0">
            <a:off x="17114534" y="6409472"/>
            <a:ext cx="1330869" cy="3847184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29" id="29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30" id="30"/>
          <p:cNvSpPr/>
          <p:nvPr/>
        </p:nvSpPr>
        <p:spPr>
          <a:xfrm flipH="false" flipV="false" rot="0">
            <a:off x="17089491" y="355596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82747" y="77033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82747" y="8062784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64437" y="77033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764437" y="8062784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044794" y="77033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044794" y="8062784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317822" y="77033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317822" y="8062784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599513" y="77033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599513" y="8062784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879870" y="77033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879870" y="8062784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152918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152918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434608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434608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714965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14965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987993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987993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4269683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269683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550041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550041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82747" y="84165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764437" y="84165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2044794" y="84165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2317822" y="84165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2599513" y="84165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2879870" y="84165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3152918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434608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3714965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3987993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269683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4550041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-10800000">
            <a:off x="2919885" y="8411428"/>
            <a:ext cx="1998474" cy="479634"/>
          </a:xfrm>
          <a:custGeom>
            <a:avLst/>
            <a:gdLst/>
            <a:ahLst/>
            <a:cxnLst/>
            <a:rect r="r" b="b" t="t" l="l"/>
            <a:pathLst>
              <a:path h="479634" w="1998474">
                <a:moveTo>
                  <a:pt x="0" y="0"/>
                </a:moveTo>
                <a:lnTo>
                  <a:pt x="1998474" y="0"/>
                </a:lnTo>
                <a:lnTo>
                  <a:pt x="1998474" y="479634"/>
                </a:lnTo>
                <a:lnTo>
                  <a:pt x="0" y="47963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5240294" y="77034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5240294" y="8062885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5521984" y="77034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5521984" y="8062885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802341" y="77034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5802341" y="8062885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6075369" y="77034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6075369" y="8062885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6357059" y="77034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6357059" y="8062885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6637417" y="770340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6637417" y="8062885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6910464" y="77162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6910464" y="807571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7192155" y="77162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7192155" y="807571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7472512" y="77162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7472512" y="807571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7745540" y="77162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7745540" y="807571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8027230" y="77162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8027230" y="807571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8307587" y="77162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8307587" y="807571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5240294" y="84166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5521984" y="84166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5802341" y="84166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6075369" y="84166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6357059" y="84166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6637417" y="841664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6910464" y="84294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7192155" y="84294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7472512" y="84294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7745540" y="84294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8027230" y="84294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8307587" y="84294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8587945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8587945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8869635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8869635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9149992" y="7716141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9149992" y="8075618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7"/>
                </a:lnTo>
                <a:lnTo>
                  <a:pt x="0" y="28159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8587945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8869635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9149992" y="8429376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8" y="0"/>
                </a:lnTo>
                <a:lnTo>
                  <a:pt x="204158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9430350" y="771910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9430350" y="807857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9710707" y="7719102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9710707" y="8078579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9430350" y="843233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9710707" y="8432337"/>
            <a:ext cx="204157" cy="281596"/>
          </a:xfrm>
          <a:custGeom>
            <a:avLst/>
            <a:gdLst/>
            <a:ahLst/>
            <a:cxnLst/>
            <a:rect r="r" b="b" t="t" l="l"/>
            <a:pathLst>
              <a:path h="281596" w="204157">
                <a:moveTo>
                  <a:pt x="0" y="0"/>
                </a:moveTo>
                <a:lnTo>
                  <a:pt x="204157" y="0"/>
                </a:lnTo>
                <a:lnTo>
                  <a:pt x="204157" y="281596"/>
                </a:lnTo>
                <a:lnTo>
                  <a:pt x="0" y="2815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-10800000">
            <a:off x="7743344" y="8324548"/>
            <a:ext cx="2360475" cy="566514"/>
          </a:xfrm>
          <a:custGeom>
            <a:avLst/>
            <a:gdLst/>
            <a:ahLst/>
            <a:cxnLst/>
            <a:rect r="r" b="b" t="t" l="l"/>
            <a:pathLst>
              <a:path h="566514" w="2360475">
                <a:moveTo>
                  <a:pt x="0" y="0"/>
                </a:moveTo>
                <a:lnTo>
                  <a:pt x="2360475" y="0"/>
                </a:lnTo>
                <a:lnTo>
                  <a:pt x="2360475" y="566514"/>
                </a:lnTo>
                <a:lnTo>
                  <a:pt x="0" y="56651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1" id="121"/>
          <p:cNvSpPr txBox="true"/>
          <p:nvPr/>
        </p:nvSpPr>
        <p:spPr>
          <a:xfrm rot="0">
            <a:off x="1482747" y="2741488"/>
            <a:ext cx="7994709" cy="155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4385" spc="-87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Uma escola com história, estrutura e grande potencial.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482747" y="2010535"/>
            <a:ext cx="5644038" cy="31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5"/>
              </a:lnSpc>
            </a:pPr>
            <a:r>
              <a:rPr lang="en-US" sz="2345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 que enxergamos no Cristo Rei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3986871" y="872122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3986871" y="1086890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524405" y="4794390"/>
            <a:ext cx="1923970" cy="213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856" spc="-37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 estrutura física atual permite crescer muito sem necessidade imediata de expansão.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752896" y="5622583"/>
            <a:ext cx="1658910" cy="47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b="true" sz="3038" spc="-60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1.046 m²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3596694" y="5659581"/>
            <a:ext cx="2425471" cy="40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0"/>
              </a:lnSpc>
            </a:pPr>
            <a:r>
              <a:rPr lang="en-US" b="true" sz="2680" spc="-53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R$ 406.159,53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3911338" y="5607883"/>
            <a:ext cx="79723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b="true" sz="3486" spc="-69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105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5695034" y="5554154"/>
            <a:ext cx="920489" cy="62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b="true" sz="4024" spc="-80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11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7421334" y="5632108"/>
            <a:ext cx="1436387" cy="49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4"/>
              </a:lnSpc>
            </a:pPr>
            <a:r>
              <a:rPr lang="en-US" b="true" sz="3274" spc="-65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41,34%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534039" y="5607883"/>
            <a:ext cx="1576399" cy="54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3"/>
              </a:lnSpc>
            </a:pPr>
            <a:r>
              <a:rPr lang="en-US" b="true" sz="3593" spc="-71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+149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55291" y="7347335"/>
            <a:ext cx="4496458" cy="24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689" spc="-33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CAPACIDADE OPERACIONAL DA ESCOLA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915010" y="8988317"/>
            <a:ext cx="252271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b="true" sz="1800" spc="-36">
                <a:solidFill>
                  <a:srgbClr val="FF5B2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105 alunos atuais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1252971" y="8629690"/>
            <a:ext cx="1169810" cy="47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5"/>
              </a:lnSpc>
            </a:pPr>
            <a:r>
              <a:rPr lang="en-US" b="true" sz="2821" spc="-56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41,34%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3329954" y="8010292"/>
            <a:ext cx="2558960" cy="101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522" spc="-30" b="true">
                <a:solidFill>
                  <a:srgbClr val="003B4A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Há espaço para </a:t>
            </a:r>
            <a:r>
              <a:rPr lang="en-US" sz="1522" spc="-30" b="true">
                <a:solidFill>
                  <a:srgbClr val="FF5B22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+149</a:t>
            </a:r>
            <a:r>
              <a:rPr lang="en-US" sz="1522" spc="-30" b="true">
                <a:solidFill>
                  <a:srgbClr val="003B4A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 novas matrículas na estrutura atual, sem necessidade de CAPEX imediato.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6010665" y="8988317"/>
            <a:ext cx="297703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b="true" sz="1800" spc="-36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+149 matrículas potenciais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3329954" y="7387073"/>
            <a:ext cx="274174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"/>
              </a:lnSpc>
            </a:pPr>
            <a:r>
              <a:rPr lang="en-US" sz="1495" spc="-29" b="true">
                <a:solidFill>
                  <a:srgbClr val="003B4A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Apenas 41,34% da capacidade está ocupada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3779164" y="6239063"/>
            <a:ext cx="1099180" cy="32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sz="1271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alunos atualmente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5744678" y="6232769"/>
            <a:ext cx="864352" cy="33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"/>
              </a:lnSpc>
            </a:pPr>
            <a:r>
              <a:rPr lang="en-US" sz="127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salas ativas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359815" y="6253843"/>
            <a:ext cx="1719234" cy="33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"/>
              </a:lnSpc>
            </a:pPr>
            <a:r>
              <a:rPr lang="en-US" sz="127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da capacidade ocupada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9328472" y="6172415"/>
            <a:ext cx="1987533" cy="42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"/>
              </a:lnSpc>
            </a:pPr>
            <a:r>
              <a:rPr lang="en-US" sz="1113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matriculas potenciais sem necessidade de expansão física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2062513" y="6196679"/>
            <a:ext cx="1261376" cy="33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"/>
              </a:lnSpc>
            </a:pPr>
            <a:r>
              <a:rPr lang="en-US" sz="127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área construída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3984266" y="6231371"/>
            <a:ext cx="1650329" cy="23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0"/>
              </a:lnSpc>
            </a:pPr>
            <a:r>
              <a:rPr lang="en-US" sz="1484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receita anual</a:t>
            </a:r>
          </a:p>
        </p:txBody>
      </p:sp>
      <p:sp>
        <p:nvSpPr>
          <p:cNvPr name="Freeform 144" id="144"/>
          <p:cNvSpPr/>
          <p:nvPr/>
        </p:nvSpPr>
        <p:spPr>
          <a:xfrm flipH="false" flipV="false" rot="0">
            <a:off x="11252971" y="7232340"/>
            <a:ext cx="1311750" cy="1325000"/>
          </a:xfrm>
          <a:custGeom>
            <a:avLst/>
            <a:gdLst/>
            <a:ahLst/>
            <a:cxnLst/>
            <a:rect r="r" b="b" t="t" l="l"/>
            <a:pathLst>
              <a:path h="1325000" w="1311750">
                <a:moveTo>
                  <a:pt x="0" y="0"/>
                </a:moveTo>
                <a:lnTo>
                  <a:pt x="1311749" y="0"/>
                </a:lnTo>
                <a:lnTo>
                  <a:pt x="1311749" y="1325000"/>
                </a:lnTo>
                <a:lnTo>
                  <a:pt x="0" y="132500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01506" y="5134889"/>
            <a:ext cx="7358736" cy="1918921"/>
            <a:chOff x="0" y="0"/>
            <a:chExt cx="2086757" cy="54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57" cy="544159"/>
            </a:xfrm>
            <a:custGeom>
              <a:avLst/>
              <a:gdLst/>
              <a:ahLst/>
              <a:cxnLst/>
              <a:rect r="r" b="b" t="t" l="l"/>
              <a:pathLst>
                <a:path h="544159" w="2086757">
                  <a:moveTo>
                    <a:pt x="17885" y="0"/>
                  </a:moveTo>
                  <a:lnTo>
                    <a:pt x="2068872" y="0"/>
                  </a:lnTo>
                  <a:cubicBezTo>
                    <a:pt x="2078750" y="0"/>
                    <a:pt x="2086757" y="8007"/>
                    <a:pt x="2086757" y="17885"/>
                  </a:cubicBezTo>
                  <a:lnTo>
                    <a:pt x="2086757" y="526274"/>
                  </a:lnTo>
                  <a:cubicBezTo>
                    <a:pt x="2086757" y="536152"/>
                    <a:pt x="2078750" y="544159"/>
                    <a:pt x="2068872" y="544159"/>
                  </a:cubicBezTo>
                  <a:lnTo>
                    <a:pt x="17885" y="544159"/>
                  </a:lnTo>
                  <a:cubicBezTo>
                    <a:pt x="8007" y="544159"/>
                    <a:pt x="0" y="536152"/>
                    <a:pt x="0" y="526274"/>
                  </a:cubicBezTo>
                  <a:lnTo>
                    <a:pt x="0" y="17885"/>
                  </a:lnTo>
                  <a:cubicBezTo>
                    <a:pt x="0" y="8007"/>
                    <a:pt x="8007" y="0"/>
                    <a:pt x="178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2000"/>
                  </a:srgbClr>
                </a:gs>
                <a:gs pos="100000">
                  <a:srgbClr val="C9E265">
                    <a:alpha val="12000"/>
                  </a:srgbClr>
                </a:gs>
              </a:gsLst>
              <a:lin ang="0"/>
            </a:gradFill>
            <a:ln w="9525" cap="sq">
              <a:solidFill>
                <a:srgbClr val="E5E2E1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086757" cy="525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44700" y="5406181"/>
            <a:ext cx="184647" cy="1556307"/>
          </a:xfrm>
          <a:custGeom>
            <a:avLst/>
            <a:gdLst/>
            <a:ahLst/>
            <a:cxnLst/>
            <a:rect r="r" b="b" t="t" l="l"/>
            <a:pathLst>
              <a:path h="1556307" w="184647">
                <a:moveTo>
                  <a:pt x="0" y="0"/>
                </a:moveTo>
                <a:lnTo>
                  <a:pt x="184647" y="0"/>
                </a:lnTo>
                <a:lnTo>
                  <a:pt x="184647" y="1556307"/>
                </a:lnTo>
                <a:lnTo>
                  <a:pt x="0" y="1556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70301" y="5406181"/>
            <a:ext cx="184647" cy="1556307"/>
          </a:xfrm>
          <a:custGeom>
            <a:avLst/>
            <a:gdLst/>
            <a:ahLst/>
            <a:cxnLst/>
            <a:rect r="r" b="b" t="t" l="l"/>
            <a:pathLst>
              <a:path h="1556307" w="184647">
                <a:moveTo>
                  <a:pt x="0" y="0"/>
                </a:moveTo>
                <a:lnTo>
                  <a:pt x="184646" y="0"/>
                </a:lnTo>
                <a:lnTo>
                  <a:pt x="184646" y="1556307"/>
                </a:lnTo>
                <a:lnTo>
                  <a:pt x="0" y="1556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20047" y="5406181"/>
            <a:ext cx="360501" cy="1556307"/>
          </a:xfrm>
          <a:custGeom>
            <a:avLst/>
            <a:gdLst/>
            <a:ahLst/>
            <a:cxnLst/>
            <a:rect r="r" b="b" t="t" l="l"/>
            <a:pathLst>
              <a:path h="1556307" w="360501">
                <a:moveTo>
                  <a:pt x="0" y="0"/>
                </a:moveTo>
                <a:lnTo>
                  <a:pt x="360501" y="0"/>
                </a:lnTo>
                <a:lnTo>
                  <a:pt x="360501" y="1556307"/>
                </a:lnTo>
                <a:lnTo>
                  <a:pt x="0" y="1556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18936" y="63066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1" y="0"/>
                </a:lnTo>
                <a:lnTo>
                  <a:pt x="229571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50965" y="623051"/>
            <a:ext cx="2083982" cy="972874"/>
            <a:chOff x="0" y="0"/>
            <a:chExt cx="2778642" cy="12971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07407" y="7187131"/>
            <a:ext cx="8664444" cy="1443021"/>
            <a:chOff x="0" y="0"/>
            <a:chExt cx="2457024" cy="409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57024" cy="409205"/>
            </a:xfrm>
            <a:custGeom>
              <a:avLst/>
              <a:gdLst/>
              <a:ahLst/>
              <a:cxnLst/>
              <a:rect r="r" b="b" t="t" l="l"/>
              <a:pathLst>
                <a:path h="409205" w="2457024">
                  <a:moveTo>
                    <a:pt x="15190" y="0"/>
                  </a:moveTo>
                  <a:lnTo>
                    <a:pt x="2441834" y="0"/>
                  </a:lnTo>
                  <a:cubicBezTo>
                    <a:pt x="2445863" y="0"/>
                    <a:pt x="2449726" y="1600"/>
                    <a:pt x="2452575" y="4449"/>
                  </a:cubicBezTo>
                  <a:cubicBezTo>
                    <a:pt x="2455424" y="7298"/>
                    <a:pt x="2457024" y="11161"/>
                    <a:pt x="2457024" y="15190"/>
                  </a:cubicBezTo>
                  <a:lnTo>
                    <a:pt x="2457024" y="394015"/>
                  </a:lnTo>
                  <a:cubicBezTo>
                    <a:pt x="2457024" y="398044"/>
                    <a:pt x="2455424" y="401908"/>
                    <a:pt x="2452575" y="404756"/>
                  </a:cubicBezTo>
                  <a:cubicBezTo>
                    <a:pt x="2449726" y="407605"/>
                    <a:pt x="2445863" y="409205"/>
                    <a:pt x="2441834" y="409205"/>
                  </a:cubicBezTo>
                  <a:lnTo>
                    <a:pt x="15190" y="409205"/>
                  </a:lnTo>
                  <a:cubicBezTo>
                    <a:pt x="11161" y="409205"/>
                    <a:pt x="7298" y="407605"/>
                    <a:pt x="4449" y="404756"/>
                  </a:cubicBezTo>
                  <a:cubicBezTo>
                    <a:pt x="1600" y="401908"/>
                    <a:pt x="0" y="398044"/>
                    <a:pt x="0" y="394015"/>
                  </a:cubicBezTo>
                  <a:lnTo>
                    <a:pt x="0" y="15190"/>
                  </a:lnTo>
                  <a:cubicBezTo>
                    <a:pt x="0" y="11161"/>
                    <a:pt x="1600" y="7298"/>
                    <a:pt x="4449" y="4449"/>
                  </a:cubicBezTo>
                  <a:cubicBezTo>
                    <a:pt x="7298" y="1600"/>
                    <a:pt x="11161" y="0"/>
                    <a:pt x="15190" y="0"/>
                  </a:cubicBezTo>
                  <a:close/>
                </a:path>
              </a:pathLst>
            </a:custGeom>
            <a:solidFill>
              <a:srgbClr val="FFB235">
                <a:alpha val="11765"/>
              </a:srgbClr>
            </a:solidFill>
            <a:ln w="9525" cap="sq">
              <a:solidFill>
                <a:srgbClr val="E5E2E1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2457024" cy="390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16" id="16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19" id="19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rot="0">
            <a:off x="17114534" y="6654381"/>
            <a:ext cx="1330869" cy="3602276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22" id="22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23" id="23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695199" y="5634454"/>
            <a:ext cx="692070" cy="342575"/>
          </a:xfrm>
          <a:custGeom>
            <a:avLst/>
            <a:gdLst/>
            <a:ahLst/>
            <a:cxnLst/>
            <a:rect r="r" b="b" t="t" l="l"/>
            <a:pathLst>
              <a:path h="342575" w="692070">
                <a:moveTo>
                  <a:pt x="0" y="0"/>
                </a:moveTo>
                <a:lnTo>
                  <a:pt x="692070" y="0"/>
                </a:lnTo>
                <a:lnTo>
                  <a:pt x="692070" y="342575"/>
                </a:lnTo>
                <a:lnTo>
                  <a:pt x="0" y="342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581283" y="5538167"/>
            <a:ext cx="637082" cy="535148"/>
          </a:xfrm>
          <a:custGeom>
            <a:avLst/>
            <a:gdLst/>
            <a:ahLst/>
            <a:cxnLst/>
            <a:rect r="r" b="b" t="t" l="l"/>
            <a:pathLst>
              <a:path h="535148" w="637082">
                <a:moveTo>
                  <a:pt x="0" y="0"/>
                </a:moveTo>
                <a:lnTo>
                  <a:pt x="637082" y="0"/>
                </a:lnTo>
                <a:lnTo>
                  <a:pt x="637082" y="535149"/>
                </a:lnTo>
                <a:lnTo>
                  <a:pt x="0" y="53514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613532" y="5580490"/>
            <a:ext cx="469144" cy="469144"/>
          </a:xfrm>
          <a:custGeom>
            <a:avLst/>
            <a:gdLst/>
            <a:ahLst/>
            <a:cxnLst/>
            <a:rect r="r" b="b" t="t" l="l"/>
            <a:pathLst>
              <a:path h="469144" w="469144">
                <a:moveTo>
                  <a:pt x="0" y="0"/>
                </a:moveTo>
                <a:lnTo>
                  <a:pt x="469144" y="0"/>
                </a:lnTo>
                <a:lnTo>
                  <a:pt x="469144" y="469144"/>
                </a:lnTo>
                <a:lnTo>
                  <a:pt x="0" y="46914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64665" y="5580490"/>
            <a:ext cx="388072" cy="488141"/>
          </a:xfrm>
          <a:custGeom>
            <a:avLst/>
            <a:gdLst/>
            <a:ahLst/>
            <a:cxnLst/>
            <a:rect r="r" b="b" t="t" l="l"/>
            <a:pathLst>
              <a:path h="488141" w="388072">
                <a:moveTo>
                  <a:pt x="0" y="0"/>
                </a:moveTo>
                <a:lnTo>
                  <a:pt x="388072" y="0"/>
                </a:lnTo>
                <a:lnTo>
                  <a:pt x="388072" y="488141"/>
                </a:lnTo>
                <a:lnTo>
                  <a:pt x="0" y="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958026" y="4622140"/>
            <a:ext cx="672998" cy="565318"/>
          </a:xfrm>
          <a:custGeom>
            <a:avLst/>
            <a:gdLst/>
            <a:ahLst/>
            <a:cxnLst/>
            <a:rect r="r" b="b" t="t" l="l"/>
            <a:pathLst>
              <a:path h="565318" w="672998">
                <a:moveTo>
                  <a:pt x="0" y="0"/>
                </a:moveTo>
                <a:lnTo>
                  <a:pt x="672998" y="0"/>
                </a:lnTo>
                <a:lnTo>
                  <a:pt x="672998" y="565319"/>
                </a:lnTo>
                <a:lnTo>
                  <a:pt x="0" y="565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030861" y="5345321"/>
            <a:ext cx="475257" cy="475257"/>
          </a:xfrm>
          <a:custGeom>
            <a:avLst/>
            <a:gdLst/>
            <a:ahLst/>
            <a:cxnLst/>
            <a:rect r="r" b="b" t="t" l="l"/>
            <a:pathLst>
              <a:path h="475257" w="475257">
                <a:moveTo>
                  <a:pt x="0" y="0"/>
                </a:moveTo>
                <a:lnTo>
                  <a:pt x="475257" y="0"/>
                </a:lnTo>
                <a:lnTo>
                  <a:pt x="475257" y="475257"/>
                </a:lnTo>
                <a:lnTo>
                  <a:pt x="0" y="47525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082932" y="6245549"/>
            <a:ext cx="362644" cy="362644"/>
          </a:xfrm>
          <a:custGeom>
            <a:avLst/>
            <a:gdLst/>
            <a:ahLst/>
            <a:cxnLst/>
            <a:rect r="r" b="b" t="t" l="l"/>
            <a:pathLst>
              <a:path h="362644" w="362644">
                <a:moveTo>
                  <a:pt x="0" y="0"/>
                </a:moveTo>
                <a:lnTo>
                  <a:pt x="362644" y="0"/>
                </a:lnTo>
                <a:lnTo>
                  <a:pt x="362644" y="362643"/>
                </a:lnTo>
                <a:lnTo>
                  <a:pt x="0" y="3626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082932" y="7021266"/>
            <a:ext cx="423186" cy="427460"/>
          </a:xfrm>
          <a:custGeom>
            <a:avLst/>
            <a:gdLst/>
            <a:ahLst/>
            <a:cxnLst/>
            <a:rect r="r" b="b" t="t" l="l"/>
            <a:pathLst>
              <a:path h="427460" w="423186">
                <a:moveTo>
                  <a:pt x="0" y="0"/>
                </a:moveTo>
                <a:lnTo>
                  <a:pt x="423186" y="0"/>
                </a:lnTo>
                <a:lnTo>
                  <a:pt x="423186" y="427460"/>
                </a:lnTo>
                <a:lnTo>
                  <a:pt x="0" y="42746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897670" y="5977029"/>
            <a:ext cx="728062" cy="389513"/>
          </a:xfrm>
          <a:custGeom>
            <a:avLst/>
            <a:gdLst/>
            <a:ahLst/>
            <a:cxnLst/>
            <a:rect r="r" b="b" t="t" l="l"/>
            <a:pathLst>
              <a:path h="389513" w="728062">
                <a:moveTo>
                  <a:pt x="0" y="0"/>
                </a:moveTo>
                <a:lnTo>
                  <a:pt x="728062" y="0"/>
                </a:lnTo>
                <a:lnTo>
                  <a:pt x="728062" y="389513"/>
                </a:lnTo>
                <a:lnTo>
                  <a:pt x="0" y="38951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052880" y="-780245"/>
            <a:ext cx="4977881" cy="4139439"/>
            <a:chOff x="0" y="0"/>
            <a:chExt cx="977432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7432" cy="812800"/>
            </a:xfrm>
            <a:custGeom>
              <a:avLst/>
              <a:gdLst/>
              <a:ahLst/>
              <a:cxnLst/>
              <a:rect r="r" b="b" t="t" l="l"/>
              <a:pathLst>
                <a:path h="812800" w="977432">
                  <a:moveTo>
                    <a:pt x="35771" y="0"/>
                  </a:moveTo>
                  <a:lnTo>
                    <a:pt x="941661" y="0"/>
                  </a:lnTo>
                  <a:cubicBezTo>
                    <a:pt x="961417" y="0"/>
                    <a:pt x="977432" y="16015"/>
                    <a:pt x="977432" y="35771"/>
                  </a:cubicBezTo>
                  <a:lnTo>
                    <a:pt x="977432" y="777029"/>
                  </a:lnTo>
                  <a:cubicBezTo>
                    <a:pt x="977432" y="786516"/>
                    <a:pt x="973663" y="795615"/>
                    <a:pt x="966955" y="802323"/>
                  </a:cubicBezTo>
                  <a:cubicBezTo>
                    <a:pt x="960247" y="809031"/>
                    <a:pt x="951148" y="812800"/>
                    <a:pt x="941661" y="812800"/>
                  </a:cubicBezTo>
                  <a:lnTo>
                    <a:pt x="35771" y="812800"/>
                  </a:lnTo>
                  <a:cubicBezTo>
                    <a:pt x="16015" y="812800"/>
                    <a:pt x="0" y="796785"/>
                    <a:pt x="0" y="777029"/>
                  </a:cubicBezTo>
                  <a:lnTo>
                    <a:pt x="0" y="35771"/>
                  </a:lnTo>
                  <a:cubicBezTo>
                    <a:pt x="0" y="16015"/>
                    <a:pt x="16015" y="0"/>
                    <a:pt x="35771" y="0"/>
                  </a:cubicBezTo>
                  <a:close/>
                </a:path>
              </a:pathLst>
            </a:custGeom>
            <a:blipFill>
              <a:blip r:embed="rId32"/>
              <a:stretch>
                <a:fillRect l="-21811" t="0" r="-1348" b="-19926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905560" y="5522037"/>
            <a:ext cx="5028937" cy="24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"/>
              </a:lnSpc>
            </a:pPr>
            <a:r>
              <a:rPr lang="en-US" sz="1716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Maior receita e melhor diluição de custos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50965" y="2715273"/>
            <a:ext cx="7877940" cy="114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4690" spc="-93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 região também aponta espaço real para crescer.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50965" y="4308711"/>
            <a:ext cx="842628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Além da estrutura já existe, o entorno do Cristo Rei apresenta demanda educacional que pode sustentar o crescimento da escola nos próximos ciclos.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52200" y="6019400"/>
            <a:ext cx="735069" cy="38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065" b="true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3.800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79996" y="6427156"/>
            <a:ext cx="1450075" cy="38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"/>
              </a:lnSpc>
            </a:pPr>
            <a:r>
              <a:rPr lang="en-US" sz="977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alunos matriculados em escolas privadas na região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44034" y="6019400"/>
            <a:ext cx="367535" cy="38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065" b="true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14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31978" y="6473220"/>
            <a:ext cx="1411333" cy="26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"/>
              </a:lnSpc>
            </a:pPr>
            <a:r>
              <a:rPr lang="en-US" sz="977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escolas privadas no entorno analisado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05574" y="6019400"/>
            <a:ext cx="570133" cy="38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065" b="true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8%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105338" y="6446967"/>
            <a:ext cx="1414710" cy="30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"/>
              </a:lnSpc>
            </a:pPr>
            <a:r>
              <a:rPr lang="en-US" sz="1088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crescimento projetado em 5 anos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26935" y="6024604"/>
            <a:ext cx="617458" cy="38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065" b="true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+304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28645" y="6446967"/>
            <a:ext cx="1614039" cy="30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"/>
              </a:lnSpc>
            </a:pPr>
            <a:r>
              <a:rPr lang="en-US" sz="1088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novos alunos projetados em 5 anos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31024" y="4054011"/>
            <a:ext cx="3927354" cy="28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b="true" sz="1626">
                <a:solidFill>
                  <a:srgbClr val="FF6113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 QUE ISSO SIGNIFICA NA PRÁTICA?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05560" y="6219817"/>
            <a:ext cx="4463402" cy="46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"/>
              </a:lnSpc>
            </a:pPr>
            <a:r>
              <a:rPr lang="en-US" sz="1716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Crescimento com base em demanda</a:t>
            </a:r>
          </a:p>
          <a:p>
            <a:pPr algn="l">
              <a:lnSpc>
                <a:spcPts val="1716"/>
              </a:lnSpc>
            </a:pPr>
            <a:r>
              <a:rPr lang="en-US" sz="1716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real da região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905560" y="7050132"/>
            <a:ext cx="4684343" cy="46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"/>
              </a:lnSpc>
            </a:pPr>
            <a:r>
              <a:rPr lang="en-US" sz="1716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Valorização da participação dos mantenedores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87539" y="7438203"/>
            <a:ext cx="1231941" cy="6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3.800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326745" y="5236222"/>
            <a:ext cx="3106470" cy="21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258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 QUE ENXERGAMOS NA REGIÃO: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516982" y="8095235"/>
            <a:ext cx="1173053" cy="34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0"/>
              </a:lnSpc>
            </a:pPr>
            <a:r>
              <a:rPr lang="en-US" sz="1230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alunos na região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77866" y="7438203"/>
            <a:ext cx="790572" cy="6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8%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370126" y="8095235"/>
            <a:ext cx="1206052" cy="34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0"/>
              </a:lnSpc>
            </a:pPr>
            <a:r>
              <a:rPr lang="en-US" sz="1230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crescimento em 5 anos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99207" y="7438203"/>
            <a:ext cx="1028430" cy="6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304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99207" y="8078570"/>
            <a:ext cx="996292" cy="34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0"/>
              </a:lnSpc>
            </a:pPr>
            <a:r>
              <a:rPr lang="en-US" sz="1230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novos alunos projetados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236878" y="7438203"/>
            <a:ext cx="257108" cy="64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383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=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306529" y="7429284"/>
            <a:ext cx="257108" cy="64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383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x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013475" y="7292602"/>
            <a:ext cx="7919354" cy="21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3"/>
              </a:lnSpc>
            </a:pPr>
            <a:r>
              <a:rPr lang="en-US" sz="1166" b="true">
                <a:solidFill>
                  <a:srgbClr val="00235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Se a base atual da região crescer 8% em 5 anos, isso representa cerca de 304 novos alunos no mercado local.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90039" y="8989402"/>
            <a:ext cx="8630597" cy="45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788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Há demanda na região para sustentar o crescimento do Cristo Rei —</a:t>
            </a:r>
          </a:p>
          <a:p>
            <a:pPr algn="l">
              <a:lnSpc>
                <a:spcPts val="1788"/>
              </a:lnSpc>
            </a:pPr>
            <a:r>
              <a:rPr lang="en-US" sz="1788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 vocês participam diretamente desse crescimento.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905560" y="4792335"/>
            <a:ext cx="4176169" cy="24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"/>
              </a:lnSpc>
            </a:pPr>
            <a:r>
              <a:rPr lang="en-US" sz="1716" b="true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Mais ocupação da estrutura atual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873148" y="2273948"/>
            <a:ext cx="5303094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Potencial de crescimento no entorno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456215" y="98720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456215" y="120196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873148" y="3182269"/>
            <a:ext cx="824703" cy="11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69"/>
              </a:lnSpc>
            </a:pPr>
            <a:r>
              <a:rPr lang="en-US" sz="8569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_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405" y="4478921"/>
            <a:ext cx="5444130" cy="3858991"/>
          </a:xfrm>
          <a:custGeom>
            <a:avLst/>
            <a:gdLst/>
            <a:ahLst/>
            <a:cxnLst/>
            <a:rect r="r" b="b" t="t" l="l"/>
            <a:pathLst>
              <a:path h="3858991" w="5444130">
                <a:moveTo>
                  <a:pt x="0" y="0"/>
                </a:moveTo>
                <a:lnTo>
                  <a:pt x="5444130" y="0"/>
                </a:lnTo>
                <a:lnTo>
                  <a:pt x="5444130" y="3858992"/>
                </a:lnTo>
                <a:lnTo>
                  <a:pt x="0" y="3858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1684" y="5976604"/>
            <a:ext cx="4580503" cy="1082267"/>
          </a:xfrm>
          <a:custGeom>
            <a:avLst/>
            <a:gdLst/>
            <a:ahLst/>
            <a:cxnLst/>
            <a:rect r="r" b="b" t="t" l="l"/>
            <a:pathLst>
              <a:path h="1082267" w="4580503">
                <a:moveTo>
                  <a:pt x="0" y="0"/>
                </a:moveTo>
                <a:lnTo>
                  <a:pt x="4580503" y="0"/>
                </a:lnTo>
                <a:lnTo>
                  <a:pt x="458050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6242" y="4478921"/>
            <a:ext cx="5017782" cy="3858991"/>
          </a:xfrm>
          <a:custGeom>
            <a:avLst/>
            <a:gdLst/>
            <a:ahLst/>
            <a:cxnLst/>
            <a:rect r="r" b="b" t="t" l="l"/>
            <a:pathLst>
              <a:path h="3858991" w="5017782">
                <a:moveTo>
                  <a:pt x="0" y="0"/>
                </a:moveTo>
                <a:lnTo>
                  <a:pt x="5017782" y="0"/>
                </a:lnTo>
                <a:lnTo>
                  <a:pt x="5017782" y="3858992"/>
                </a:lnTo>
                <a:lnTo>
                  <a:pt x="0" y="3858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94882" y="5976604"/>
            <a:ext cx="4361863" cy="1082267"/>
          </a:xfrm>
          <a:custGeom>
            <a:avLst/>
            <a:gdLst/>
            <a:ahLst/>
            <a:cxnLst/>
            <a:rect r="r" b="b" t="t" l="l"/>
            <a:pathLst>
              <a:path h="1082267" w="4361863">
                <a:moveTo>
                  <a:pt x="0" y="0"/>
                </a:moveTo>
                <a:lnTo>
                  <a:pt x="4361863" y="0"/>
                </a:lnTo>
                <a:lnTo>
                  <a:pt x="436186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01732" y="4478921"/>
            <a:ext cx="4361863" cy="3858991"/>
          </a:xfrm>
          <a:custGeom>
            <a:avLst/>
            <a:gdLst/>
            <a:ahLst/>
            <a:cxnLst/>
            <a:rect r="r" b="b" t="t" l="l"/>
            <a:pathLst>
              <a:path h="3858991" w="4361863">
                <a:moveTo>
                  <a:pt x="0" y="0"/>
                </a:moveTo>
                <a:lnTo>
                  <a:pt x="4361863" y="0"/>
                </a:lnTo>
                <a:lnTo>
                  <a:pt x="4361863" y="3858992"/>
                </a:lnTo>
                <a:lnTo>
                  <a:pt x="0" y="3858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20372" y="5976604"/>
            <a:ext cx="3924583" cy="1082267"/>
          </a:xfrm>
          <a:custGeom>
            <a:avLst/>
            <a:gdLst/>
            <a:ahLst/>
            <a:cxnLst/>
            <a:rect r="r" b="b" t="t" l="l"/>
            <a:pathLst>
              <a:path h="1082267" w="3924583">
                <a:moveTo>
                  <a:pt x="0" y="0"/>
                </a:moveTo>
                <a:lnTo>
                  <a:pt x="3924583" y="0"/>
                </a:lnTo>
                <a:lnTo>
                  <a:pt x="392458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93976" y="8545621"/>
            <a:ext cx="229572" cy="863627"/>
          </a:xfrm>
          <a:custGeom>
            <a:avLst/>
            <a:gdLst/>
            <a:ahLst/>
            <a:cxnLst/>
            <a:rect r="r" b="b" t="t" l="l"/>
            <a:pathLst>
              <a:path h="863627" w="229572">
                <a:moveTo>
                  <a:pt x="0" y="0"/>
                </a:moveTo>
                <a:lnTo>
                  <a:pt x="229571" y="0"/>
                </a:lnTo>
                <a:lnTo>
                  <a:pt x="229571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18936" y="63066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1" y="0"/>
                </a:lnTo>
                <a:lnTo>
                  <a:pt x="229571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50965" y="623051"/>
            <a:ext cx="2083982" cy="972874"/>
            <a:chOff x="0" y="0"/>
            <a:chExt cx="2778642" cy="12971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14" id="14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0">
            <a:off x="17114534" y="6654381"/>
            <a:ext cx="1330869" cy="3602276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17" id="17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18" id="18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21" id="21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961684" y="4911470"/>
            <a:ext cx="800351" cy="800351"/>
          </a:xfrm>
          <a:custGeom>
            <a:avLst/>
            <a:gdLst/>
            <a:ahLst/>
            <a:cxnLst/>
            <a:rect r="r" b="b" t="t" l="l"/>
            <a:pathLst>
              <a:path h="800351" w="800351">
                <a:moveTo>
                  <a:pt x="0" y="0"/>
                </a:moveTo>
                <a:lnTo>
                  <a:pt x="800351" y="0"/>
                </a:lnTo>
                <a:lnTo>
                  <a:pt x="800351" y="800350"/>
                </a:lnTo>
                <a:lnTo>
                  <a:pt x="0" y="8003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43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9820" y="5071572"/>
            <a:ext cx="524080" cy="440227"/>
          </a:xfrm>
          <a:custGeom>
            <a:avLst/>
            <a:gdLst/>
            <a:ahLst/>
            <a:cxnLst/>
            <a:rect r="r" b="b" t="t" l="l"/>
            <a:pathLst>
              <a:path h="440227" w="524080">
                <a:moveTo>
                  <a:pt x="0" y="0"/>
                </a:moveTo>
                <a:lnTo>
                  <a:pt x="524080" y="0"/>
                </a:lnTo>
                <a:lnTo>
                  <a:pt x="524080" y="440227"/>
                </a:lnTo>
                <a:lnTo>
                  <a:pt x="0" y="44022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83745" y="4891510"/>
            <a:ext cx="800351" cy="800351"/>
          </a:xfrm>
          <a:custGeom>
            <a:avLst/>
            <a:gdLst/>
            <a:ahLst/>
            <a:cxnLst/>
            <a:rect r="r" b="b" t="t" l="l"/>
            <a:pathLst>
              <a:path h="800351" w="800351">
                <a:moveTo>
                  <a:pt x="0" y="0"/>
                </a:moveTo>
                <a:lnTo>
                  <a:pt x="800351" y="0"/>
                </a:lnTo>
                <a:lnTo>
                  <a:pt x="800351" y="800351"/>
                </a:lnTo>
                <a:lnTo>
                  <a:pt x="0" y="80035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851249" y="4911470"/>
            <a:ext cx="800351" cy="800351"/>
          </a:xfrm>
          <a:custGeom>
            <a:avLst/>
            <a:gdLst/>
            <a:ahLst/>
            <a:cxnLst/>
            <a:rect r="r" b="b" t="t" l="l"/>
            <a:pathLst>
              <a:path h="800351" w="800351">
                <a:moveTo>
                  <a:pt x="0" y="0"/>
                </a:moveTo>
                <a:lnTo>
                  <a:pt x="800351" y="0"/>
                </a:lnTo>
                <a:lnTo>
                  <a:pt x="800351" y="800350"/>
                </a:lnTo>
                <a:lnTo>
                  <a:pt x="0" y="800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607740" y="5044733"/>
            <a:ext cx="536858" cy="467066"/>
          </a:xfrm>
          <a:custGeom>
            <a:avLst/>
            <a:gdLst/>
            <a:ahLst/>
            <a:cxnLst/>
            <a:rect r="r" b="b" t="t" l="l"/>
            <a:pathLst>
              <a:path h="467066" w="536858">
                <a:moveTo>
                  <a:pt x="0" y="0"/>
                </a:moveTo>
                <a:lnTo>
                  <a:pt x="536858" y="0"/>
                </a:lnTo>
                <a:lnTo>
                  <a:pt x="536858" y="467066"/>
                </a:lnTo>
                <a:lnTo>
                  <a:pt x="0" y="46706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013796" y="5066007"/>
            <a:ext cx="475257" cy="475257"/>
          </a:xfrm>
          <a:custGeom>
            <a:avLst/>
            <a:gdLst/>
            <a:ahLst/>
            <a:cxnLst/>
            <a:rect r="r" b="b" t="t" l="l"/>
            <a:pathLst>
              <a:path h="475257" w="475257">
                <a:moveTo>
                  <a:pt x="0" y="0"/>
                </a:moveTo>
                <a:lnTo>
                  <a:pt x="475257" y="0"/>
                </a:lnTo>
                <a:lnTo>
                  <a:pt x="475257" y="475257"/>
                </a:lnTo>
                <a:lnTo>
                  <a:pt x="0" y="47525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099820" y="8617443"/>
            <a:ext cx="853130" cy="686769"/>
          </a:xfrm>
          <a:custGeom>
            <a:avLst/>
            <a:gdLst/>
            <a:ahLst/>
            <a:cxnLst/>
            <a:rect r="r" b="b" t="t" l="l"/>
            <a:pathLst>
              <a:path h="686769" w="853130">
                <a:moveTo>
                  <a:pt x="0" y="0"/>
                </a:moveTo>
                <a:lnTo>
                  <a:pt x="853129" y="0"/>
                </a:lnTo>
                <a:lnTo>
                  <a:pt x="853129" y="686769"/>
                </a:lnTo>
                <a:lnTo>
                  <a:pt x="0" y="68676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850965" y="2404720"/>
            <a:ext cx="11935719" cy="113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5"/>
              </a:lnSpc>
            </a:pPr>
            <a:r>
              <a:rPr lang="en-US" sz="4176" spc="-167" b="true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Uma proposta com dois componentes principais que geram valor para todos.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50965" y="3845777"/>
            <a:ext cx="7595185" cy="53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689" spc="-33" b="true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 proposta considera o valor do </a:t>
            </a:r>
            <a:r>
              <a:rPr lang="en-US" sz="1689" spc="-33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patrimônio imobiliário e o valor da participação societária da operação escolar.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29384" y="4980347"/>
            <a:ext cx="301591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b="true" sz="1780" spc="-71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PATRIMÔNIO IMOBILIÁRIO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29384" y="5302120"/>
            <a:ext cx="2906247" cy="40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sz="1400" spc="-28" b="true">
                <a:solidFill>
                  <a:srgbClr val="003942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Aquisição 100% dos imóveis vinculados à operação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27792" y="6161022"/>
            <a:ext cx="325353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b="true" sz="3599" spc="-143">
                <a:solidFill>
                  <a:srgbClr val="00394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R$ 2.391.611,85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85571" y="7194123"/>
            <a:ext cx="4137976" cy="66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b="true" sz="1422" spc="-28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Imóveis avaliados com critério prudencial, garantindo uma base solida de patrimônio para o crescimento sustentável.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12869" y="4949486"/>
            <a:ext cx="308903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b="true" sz="1780" spc="-71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OPERAÇÃO ESCOLAR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12869" y="5269773"/>
            <a:ext cx="3362282" cy="4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3"/>
              </a:lnSpc>
            </a:pPr>
            <a:r>
              <a:rPr lang="en-US" sz="1362" spc="-27" b="true">
                <a:solidFill>
                  <a:srgbClr val="003942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Aquisição de 70% da participação societária da INSTITUTO CRISTO REI LTDA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89502" y="6161022"/>
            <a:ext cx="283628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b="true" sz="3599" spc="-143">
                <a:solidFill>
                  <a:srgbClr val="003942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R$ 407.824,20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07740" y="7194123"/>
            <a:ext cx="3999807" cy="66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b="true" sz="1422" spc="-28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 atribuído à operação escolar com base na análise financeira, diagnóstico e premissas de recuperação e crescimento.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86684" y="4955813"/>
            <a:ext cx="2713904" cy="71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b="true" sz="2527" spc="-101">
                <a:solidFill>
                  <a:srgbClr val="F2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 TOTAL DA TRANSAÇÃO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064692" y="6161022"/>
            <a:ext cx="316214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b="true" sz="3599" spc="-143">
                <a:solidFill>
                  <a:srgbClr val="F2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R$ 2.799.436,05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64161" y="7303660"/>
            <a:ext cx="3363204" cy="44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b="true" sz="1422" spc="-28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Investimento total considerando os dois pilares da transação.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67146" y="8721571"/>
            <a:ext cx="2817304" cy="56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2022" spc="-80" b="true">
                <a:solidFill>
                  <a:srgbClr val="F2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Proposta equilibrada e sustentável.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530206" y="8718913"/>
            <a:ext cx="9970382" cy="54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sz="1545" spc="-30" b="true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 combinação entre a solidez do </a:t>
            </a:r>
            <a:r>
              <a:rPr lang="en-US" sz="1545" spc="-30" b="true">
                <a:solidFill>
                  <a:srgbClr val="F2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patrimônio imobiliário</a:t>
            </a:r>
            <a:r>
              <a:rPr lang="en-US" sz="1545" spc="-30" b="true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 e o </a:t>
            </a:r>
            <a:r>
              <a:rPr lang="en-US" sz="1545" spc="-30" b="true">
                <a:solidFill>
                  <a:srgbClr val="F2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potencial de crescimento</a:t>
            </a:r>
            <a:r>
              <a:rPr lang="en-US" sz="1545" spc="-30" b="true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 da operação escolar cria uma base consistente para </a:t>
            </a:r>
            <a:r>
              <a:rPr lang="en-US" sz="1545" spc="-30" b="true">
                <a:solidFill>
                  <a:srgbClr val="F2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geração de valor de longo prazo</a:t>
            </a:r>
            <a:r>
              <a:rPr lang="en-US" sz="1545" spc="-30" b="true">
                <a:solidFill>
                  <a:srgbClr val="0039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 para todos os envolvidos.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47233" y="6146891"/>
            <a:ext cx="329009" cy="50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 spc="-136">
                <a:solidFill>
                  <a:srgbClr val="00394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+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39045" y="6146891"/>
            <a:ext cx="329009" cy="50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 spc="-136">
                <a:solidFill>
                  <a:srgbClr val="00394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=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50965" y="1999312"/>
            <a:ext cx="13578020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Valoração da transação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56215" y="98720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456215" y="120196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8936" y="63066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1" y="0"/>
                </a:lnTo>
                <a:lnTo>
                  <a:pt x="229571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50965" y="623051"/>
            <a:ext cx="2083982" cy="972874"/>
            <a:chOff x="0" y="0"/>
            <a:chExt cx="2778642" cy="1297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9" id="9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17114534" y="6507944"/>
            <a:ext cx="1330869" cy="3748713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12" id="12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13" id="13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5928" y="5638798"/>
            <a:ext cx="939992" cy="68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9"/>
              </a:lnSpc>
            </a:pPr>
            <a:r>
              <a:rPr lang="en-US" b="true" sz="3592">
                <a:solidFill>
                  <a:srgbClr val="FF4D1B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53%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3598" y="5723120"/>
            <a:ext cx="1592300" cy="381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2"/>
              </a:lnSpc>
            </a:pPr>
            <a:r>
              <a:rPr lang="en-US" b="true" sz="1291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DO TOTAL</a:t>
            </a:r>
          </a:p>
          <a:p>
            <a:pPr algn="ctr">
              <a:lnSpc>
                <a:spcPts val="1472"/>
              </a:lnSpc>
            </a:pPr>
            <a:r>
              <a:rPr lang="en-US" b="true" sz="1291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DA TRANSAÇÃO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90276" y="5638798"/>
            <a:ext cx="900922" cy="68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b="true" sz="3591">
                <a:solidFill>
                  <a:srgbClr val="00304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47%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51291" y="6093362"/>
            <a:ext cx="1553464" cy="32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b="true" sz="1656">
                <a:solidFill>
                  <a:srgbClr val="F14916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R$ 2.799.436,05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919120" y="7825956"/>
            <a:ext cx="6860340" cy="1689791"/>
            <a:chOff x="0" y="0"/>
            <a:chExt cx="2457024" cy="605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024" cy="605197"/>
            </a:xfrm>
            <a:custGeom>
              <a:avLst/>
              <a:gdLst/>
              <a:ahLst/>
              <a:cxnLst/>
              <a:rect r="r" b="b" t="t" l="l"/>
              <a:pathLst>
                <a:path h="605197" w="2457024">
                  <a:moveTo>
                    <a:pt x="19185" y="0"/>
                  </a:moveTo>
                  <a:lnTo>
                    <a:pt x="2437839" y="0"/>
                  </a:lnTo>
                  <a:cubicBezTo>
                    <a:pt x="2448435" y="0"/>
                    <a:pt x="2457024" y="8589"/>
                    <a:pt x="2457024" y="19185"/>
                  </a:cubicBezTo>
                  <a:lnTo>
                    <a:pt x="2457024" y="586012"/>
                  </a:lnTo>
                  <a:cubicBezTo>
                    <a:pt x="2457024" y="596608"/>
                    <a:pt x="2448435" y="605197"/>
                    <a:pt x="2437839" y="605197"/>
                  </a:cubicBezTo>
                  <a:lnTo>
                    <a:pt x="19185" y="605197"/>
                  </a:lnTo>
                  <a:cubicBezTo>
                    <a:pt x="8589" y="605197"/>
                    <a:pt x="0" y="596608"/>
                    <a:pt x="0" y="586012"/>
                  </a:cubicBezTo>
                  <a:lnTo>
                    <a:pt x="0" y="19185"/>
                  </a:lnTo>
                  <a:cubicBezTo>
                    <a:pt x="0" y="8589"/>
                    <a:pt x="8589" y="0"/>
                    <a:pt x="19185" y="0"/>
                  </a:cubicBezTo>
                  <a:close/>
                </a:path>
              </a:pathLst>
            </a:custGeom>
            <a:solidFill>
              <a:srgbClr val="FFB235">
                <a:alpha val="11765"/>
              </a:srgbClr>
            </a:solidFill>
            <a:ln w="9525" cap="sq">
              <a:solidFill>
                <a:srgbClr val="E5E2E1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2457024" cy="586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43270" y="5609534"/>
            <a:ext cx="4679229" cy="926146"/>
            <a:chOff x="0" y="0"/>
            <a:chExt cx="1326914" cy="262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6914" cy="262632"/>
            </a:xfrm>
            <a:custGeom>
              <a:avLst/>
              <a:gdLst/>
              <a:ahLst/>
              <a:cxnLst/>
              <a:rect r="r" b="b" t="t" l="l"/>
              <a:pathLst>
                <a:path h="262632" w="1326914">
                  <a:moveTo>
                    <a:pt x="28127" y="0"/>
                  </a:moveTo>
                  <a:lnTo>
                    <a:pt x="1298787" y="0"/>
                  </a:lnTo>
                  <a:cubicBezTo>
                    <a:pt x="1314322" y="0"/>
                    <a:pt x="1326914" y="12593"/>
                    <a:pt x="1326914" y="28127"/>
                  </a:cubicBezTo>
                  <a:lnTo>
                    <a:pt x="1326914" y="234505"/>
                  </a:lnTo>
                  <a:cubicBezTo>
                    <a:pt x="1326914" y="250040"/>
                    <a:pt x="1314322" y="262632"/>
                    <a:pt x="1298787" y="262632"/>
                  </a:cubicBezTo>
                  <a:lnTo>
                    <a:pt x="28127" y="262632"/>
                  </a:lnTo>
                  <a:cubicBezTo>
                    <a:pt x="12593" y="262632"/>
                    <a:pt x="0" y="250040"/>
                    <a:pt x="0" y="234505"/>
                  </a:cubicBezTo>
                  <a:lnTo>
                    <a:pt x="0" y="28127"/>
                  </a:lnTo>
                  <a:cubicBezTo>
                    <a:pt x="0" y="12593"/>
                    <a:pt x="12593" y="0"/>
                    <a:pt x="28127" y="0"/>
                  </a:cubicBezTo>
                  <a:close/>
                </a:path>
              </a:pathLst>
            </a:custGeom>
            <a:solidFill>
              <a:srgbClr val="FFB235">
                <a:alpha val="11765"/>
              </a:srgbClr>
            </a:solidFill>
            <a:ln w="9525" cap="sq">
              <a:solidFill>
                <a:srgbClr val="E5E2E1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326914" cy="243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410972">
            <a:off x="6691203" y="7233247"/>
            <a:ext cx="2087044" cy="928735"/>
          </a:xfrm>
          <a:custGeom>
            <a:avLst/>
            <a:gdLst/>
            <a:ahLst/>
            <a:cxnLst/>
            <a:rect r="r" b="b" t="t" l="l"/>
            <a:pathLst>
              <a:path h="928735" w="2087044">
                <a:moveTo>
                  <a:pt x="0" y="0"/>
                </a:moveTo>
                <a:lnTo>
                  <a:pt x="2087044" y="0"/>
                </a:lnTo>
                <a:lnTo>
                  <a:pt x="2087044" y="928734"/>
                </a:lnTo>
                <a:lnTo>
                  <a:pt x="0" y="9287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850965" y="2348098"/>
            <a:ext cx="9980137" cy="85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3071" spc="-92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Um investimento equilibrado entre valorização dos mantenedores e fortalecimento da operação.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32012" y="3442043"/>
            <a:ext cx="8701314" cy="54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605">
                <a:solidFill>
                  <a:srgbClr val="003049"/>
                </a:solidFill>
                <a:latin typeface="Neulis Neue"/>
                <a:ea typeface="Neulis Neue"/>
                <a:cs typeface="Neulis Neue"/>
                <a:sym typeface="Neulis Neue"/>
              </a:rPr>
              <a:t>Dos R$ 2.799.436,05 da transação, </a:t>
            </a:r>
            <a:r>
              <a:rPr lang="en-US" sz="1605">
                <a:solidFill>
                  <a:srgbClr val="FF4D1B"/>
                </a:solidFill>
                <a:latin typeface="Neulis Neue"/>
                <a:ea typeface="Neulis Neue"/>
                <a:cs typeface="Neulis Neue"/>
                <a:sym typeface="Neulis Neue"/>
              </a:rPr>
              <a:t>parte é destinada aos vendedores</a:t>
            </a:r>
            <a:r>
              <a:rPr lang="en-US" sz="1605">
                <a:solidFill>
                  <a:srgbClr val="003049"/>
                </a:solidFill>
                <a:latin typeface="Neulis Neue"/>
                <a:ea typeface="Neulis Neue"/>
                <a:cs typeface="Neulis Neue"/>
                <a:sym typeface="Neulis Neue"/>
              </a:rPr>
              <a:t> e parte é </a:t>
            </a:r>
            <a:r>
              <a:rPr lang="en-US" sz="1605">
                <a:solidFill>
                  <a:srgbClr val="FF4D1B"/>
                </a:solidFill>
                <a:latin typeface="Neulis Neue"/>
                <a:ea typeface="Neulis Neue"/>
                <a:cs typeface="Neulis Neue"/>
                <a:sym typeface="Neulis Neue"/>
              </a:rPr>
              <a:t>investida na estrutura da escola</a:t>
            </a:r>
            <a:r>
              <a:rPr lang="en-US" sz="1605">
                <a:solidFill>
                  <a:srgbClr val="003049"/>
                </a:solidFill>
                <a:latin typeface="Neulis Neue"/>
                <a:ea typeface="Neulis Neue"/>
                <a:cs typeface="Neulis Neue"/>
                <a:sym typeface="Neulis Neue"/>
              </a:rPr>
              <a:t> para gerar crescimento e valor no longo prazo.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9120" y="4309512"/>
            <a:ext cx="3347535" cy="6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3645" b="true">
                <a:solidFill>
                  <a:srgbClr val="F14916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R$ 1.315.734,94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8566" y="5227317"/>
            <a:ext cx="3062513" cy="49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473" b="true">
                <a:solidFill>
                  <a:srgbClr val="F14916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VAI PARA OS VENDEDORES (CASH-OUT)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50965" y="5843387"/>
            <a:ext cx="4005836" cy="35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"/>
              </a:lnSpc>
            </a:pPr>
            <a:r>
              <a:rPr lang="en-US" sz="120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 </a:t>
            </a:r>
            <a:r>
              <a:rPr lang="en-US" sz="1207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destinado aos atuais mantenedores</a:t>
            </a:r>
            <a:r>
              <a:rPr lang="en-US" sz="120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 conforme estrutura de pagamento da proposta.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32003" y="6554469"/>
            <a:ext cx="3716057" cy="78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65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É o valor que os mantenedores recebam pela transação.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50203" y="4309512"/>
            <a:ext cx="3407954" cy="69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3645" b="true">
                <a:solidFill>
                  <a:srgbClr val="00304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R$ 1.483.701.11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50203" y="5360122"/>
            <a:ext cx="2939308" cy="49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473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FORTALECE A ESTRUTURA E A OPERAÇÃO (CASH-IN)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32939" y="5976192"/>
            <a:ext cx="4168165" cy="36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"/>
              </a:lnSpc>
            </a:pPr>
            <a:r>
              <a:rPr lang="en-US" sz="120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 destinado à capitalização e ao crescimento da escola, gerando valor para todos.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32939" y="6659440"/>
            <a:ext cx="3935642" cy="103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4"/>
              </a:lnSpc>
            </a:pPr>
            <a:r>
              <a:rPr lang="en-US" sz="1870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É o capital que será reinvestido </a:t>
            </a:r>
            <a:r>
              <a:rPr lang="en-US" sz="1870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uma única</a:t>
            </a:r>
            <a:r>
              <a:rPr lang="en-US" sz="1870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 vez pelo mantenedor na operação para gerar resultados.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50965" y="1947037"/>
            <a:ext cx="6663079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Como funciona o investimento?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56215" y="98720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56215" y="120196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41710" y="7941289"/>
            <a:ext cx="3799890" cy="30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b="true" sz="1731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MAS, POR QUE ESSA DIVISÃO?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19919" y="8390003"/>
            <a:ext cx="5411336" cy="112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Uma divisão pensada para equilibrar liquidez aos mantenedores e capital para 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o 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crescimento da escola.</a:t>
            </a:r>
          </a:p>
          <a:p>
            <a:pPr algn="l" marL="0" indent="0" lvl="0">
              <a:lnSpc>
                <a:spcPts val="1752"/>
              </a:lnSpc>
            </a:pP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Parte remunera o 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val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o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r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construído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até aqui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. Parte 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per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mane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ce i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n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v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e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sti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d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a na esc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o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la pa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r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a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financia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r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s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e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u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cr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esc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i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ment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o e s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ua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val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or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izaçã</a:t>
            </a:r>
            <a:r>
              <a:rPr lang="en-US" sz="1225" strike="noStrike" u="none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o.</a:t>
            </a:r>
          </a:p>
          <a:p>
            <a:pPr algn="l" marL="0" indent="0" lvl="0">
              <a:lnSpc>
                <a:spcPts val="175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0322" y="5096050"/>
            <a:ext cx="213650" cy="1200507"/>
          </a:xfrm>
          <a:custGeom>
            <a:avLst/>
            <a:gdLst/>
            <a:ahLst/>
            <a:cxnLst/>
            <a:rect r="r" b="b" t="t" l="l"/>
            <a:pathLst>
              <a:path h="1200507" w="213650">
                <a:moveTo>
                  <a:pt x="0" y="0"/>
                </a:moveTo>
                <a:lnTo>
                  <a:pt x="213650" y="0"/>
                </a:lnTo>
                <a:lnTo>
                  <a:pt x="213650" y="1200508"/>
                </a:lnTo>
                <a:lnTo>
                  <a:pt x="0" y="1200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11655" y="4923745"/>
            <a:ext cx="213650" cy="1210681"/>
          </a:xfrm>
          <a:custGeom>
            <a:avLst/>
            <a:gdLst/>
            <a:ahLst/>
            <a:cxnLst/>
            <a:rect r="r" b="b" t="t" l="l"/>
            <a:pathLst>
              <a:path h="1210681" w="213650">
                <a:moveTo>
                  <a:pt x="0" y="0"/>
                </a:moveTo>
                <a:lnTo>
                  <a:pt x="213650" y="0"/>
                </a:lnTo>
                <a:lnTo>
                  <a:pt x="213650" y="1210681"/>
                </a:lnTo>
                <a:lnTo>
                  <a:pt x="0" y="1210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29549" y="5492828"/>
            <a:ext cx="1871978" cy="610428"/>
          </a:xfrm>
          <a:custGeom>
            <a:avLst/>
            <a:gdLst/>
            <a:ahLst/>
            <a:cxnLst/>
            <a:rect r="r" b="b" t="t" l="l"/>
            <a:pathLst>
              <a:path h="610428" w="1871978">
                <a:moveTo>
                  <a:pt x="0" y="0"/>
                </a:moveTo>
                <a:lnTo>
                  <a:pt x="1871978" y="0"/>
                </a:lnTo>
                <a:lnTo>
                  <a:pt x="1871978" y="610428"/>
                </a:lnTo>
                <a:lnTo>
                  <a:pt x="0" y="610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60" t="-31666" r="-5434" b="-1666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37867" y="7918695"/>
            <a:ext cx="14115522" cy="1290124"/>
            <a:chOff x="0" y="0"/>
            <a:chExt cx="4075645" cy="372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75645" cy="372504"/>
            </a:xfrm>
            <a:custGeom>
              <a:avLst/>
              <a:gdLst/>
              <a:ahLst/>
              <a:cxnLst/>
              <a:rect r="r" b="b" t="t" l="l"/>
              <a:pathLst>
                <a:path h="372504" w="4075645">
                  <a:moveTo>
                    <a:pt x="9324" y="0"/>
                  </a:moveTo>
                  <a:lnTo>
                    <a:pt x="4066321" y="0"/>
                  </a:lnTo>
                  <a:cubicBezTo>
                    <a:pt x="4071470" y="0"/>
                    <a:pt x="4075645" y="4174"/>
                    <a:pt x="4075645" y="9324"/>
                  </a:cubicBezTo>
                  <a:lnTo>
                    <a:pt x="4075645" y="363180"/>
                  </a:lnTo>
                  <a:cubicBezTo>
                    <a:pt x="4075645" y="365653"/>
                    <a:pt x="4074662" y="368024"/>
                    <a:pt x="4072914" y="369773"/>
                  </a:cubicBezTo>
                  <a:cubicBezTo>
                    <a:pt x="4071165" y="371522"/>
                    <a:pt x="4068794" y="372504"/>
                    <a:pt x="4066321" y="372504"/>
                  </a:cubicBezTo>
                  <a:lnTo>
                    <a:pt x="9324" y="372504"/>
                  </a:lnTo>
                  <a:cubicBezTo>
                    <a:pt x="6851" y="372504"/>
                    <a:pt x="4480" y="371522"/>
                    <a:pt x="2731" y="369773"/>
                  </a:cubicBezTo>
                  <a:cubicBezTo>
                    <a:pt x="982" y="368024"/>
                    <a:pt x="0" y="365653"/>
                    <a:pt x="0" y="363180"/>
                  </a:cubicBezTo>
                  <a:lnTo>
                    <a:pt x="0" y="9324"/>
                  </a:lnTo>
                  <a:cubicBezTo>
                    <a:pt x="0" y="6851"/>
                    <a:pt x="982" y="4480"/>
                    <a:pt x="2731" y="2731"/>
                  </a:cubicBezTo>
                  <a:cubicBezTo>
                    <a:pt x="4480" y="982"/>
                    <a:pt x="6851" y="0"/>
                    <a:pt x="9324" y="0"/>
                  </a:cubicBezTo>
                  <a:close/>
                </a:path>
              </a:pathLst>
            </a:custGeom>
            <a:solidFill>
              <a:srgbClr val="FEF9F6"/>
            </a:solidFill>
            <a:ln w="9525" cap="sq">
              <a:solidFill>
                <a:srgbClr val="F95B1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4075645" cy="353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59018" y="8146787"/>
            <a:ext cx="833939" cy="83393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1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7"/>
                </a:lnSpc>
              </a:pPr>
              <a:r>
                <a:rPr lang="en-US" b="true" sz="170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89774" y="8197276"/>
            <a:ext cx="719993" cy="7199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F0E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7"/>
                </a:lnSpc>
              </a:pPr>
              <a:r>
                <a:rPr lang="en-US" b="true" sz="170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74775" y="8146787"/>
            <a:ext cx="719993" cy="719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E9F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7"/>
                </a:lnSpc>
              </a:pPr>
              <a:r>
                <a:rPr lang="en-US" b="true" sz="1705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57260" y="8383577"/>
            <a:ext cx="431570" cy="360361"/>
          </a:xfrm>
          <a:custGeom>
            <a:avLst/>
            <a:gdLst/>
            <a:ahLst/>
            <a:cxnLst/>
            <a:rect r="r" b="b" t="t" l="l"/>
            <a:pathLst>
              <a:path h="360361" w="431570">
                <a:moveTo>
                  <a:pt x="0" y="0"/>
                </a:moveTo>
                <a:lnTo>
                  <a:pt x="431570" y="0"/>
                </a:lnTo>
                <a:lnTo>
                  <a:pt x="431570" y="360360"/>
                </a:lnTo>
                <a:lnTo>
                  <a:pt x="0" y="360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43045" y="8353929"/>
            <a:ext cx="418061" cy="376255"/>
          </a:xfrm>
          <a:custGeom>
            <a:avLst/>
            <a:gdLst/>
            <a:ahLst/>
            <a:cxnLst/>
            <a:rect r="r" b="b" t="t" l="l"/>
            <a:pathLst>
              <a:path h="376255" w="418061">
                <a:moveTo>
                  <a:pt x="0" y="0"/>
                </a:moveTo>
                <a:lnTo>
                  <a:pt x="418061" y="0"/>
                </a:lnTo>
                <a:lnTo>
                  <a:pt x="418061" y="376255"/>
                </a:lnTo>
                <a:lnTo>
                  <a:pt x="0" y="3762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1006" y="8304363"/>
            <a:ext cx="447533" cy="375927"/>
          </a:xfrm>
          <a:custGeom>
            <a:avLst/>
            <a:gdLst/>
            <a:ahLst/>
            <a:cxnLst/>
            <a:rect r="r" b="b" t="t" l="l"/>
            <a:pathLst>
              <a:path h="375927" w="447533">
                <a:moveTo>
                  <a:pt x="0" y="0"/>
                </a:moveTo>
                <a:lnTo>
                  <a:pt x="447532" y="0"/>
                </a:lnTo>
                <a:lnTo>
                  <a:pt x="447532" y="375927"/>
                </a:lnTo>
                <a:lnTo>
                  <a:pt x="0" y="3759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018936" y="63066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1" y="0"/>
                </a:lnTo>
                <a:lnTo>
                  <a:pt x="229571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850965" y="623051"/>
            <a:ext cx="2083982" cy="972874"/>
            <a:chOff x="0" y="0"/>
            <a:chExt cx="2778642" cy="12971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25" id="25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285229" y="4066631"/>
            <a:ext cx="818904" cy="687879"/>
          </a:xfrm>
          <a:custGeom>
            <a:avLst/>
            <a:gdLst/>
            <a:ahLst/>
            <a:cxnLst/>
            <a:rect r="r" b="b" t="t" l="l"/>
            <a:pathLst>
              <a:path h="687879" w="818904">
                <a:moveTo>
                  <a:pt x="0" y="0"/>
                </a:moveTo>
                <a:lnTo>
                  <a:pt x="818904" y="0"/>
                </a:lnTo>
                <a:lnTo>
                  <a:pt x="818904" y="687880"/>
                </a:lnTo>
                <a:lnTo>
                  <a:pt x="0" y="6878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859624" y="2327503"/>
            <a:ext cx="1309069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0"/>
              </a:lnSpc>
            </a:pPr>
            <a:r>
              <a:rPr lang="en-US" sz="3691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Um plano de pagamento claro, seguro e previsível.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7325" y="3210245"/>
            <a:ext cx="10447456" cy="48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612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 valor destinado aos vendedores será pago em duas frente: pela negociação do imóvel</a:t>
            </a:r>
          </a:p>
          <a:p>
            <a:pPr algn="l">
              <a:lnSpc>
                <a:spcPts val="1821"/>
              </a:lnSpc>
            </a:pPr>
            <a:r>
              <a:rPr lang="en-US" sz="1612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 pela participação societária da operação escolar, conforme estrutura abaixo.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11038" y="5057950"/>
            <a:ext cx="885184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ENTRADA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62590" y="5686705"/>
            <a:ext cx="1544365" cy="38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em 3 parcelas de</a:t>
            </a:r>
          </a:p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R$ 56,997,44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77289" y="5329011"/>
            <a:ext cx="1343836" cy="3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R$ 953.178,34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30678" y="5702467"/>
            <a:ext cx="1637057" cy="38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em 60 parcelas de</a:t>
            </a:r>
          </a:p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R$ 15,866,31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77865" y="6410245"/>
            <a:ext cx="2334149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3 primeiros pagamentos</a:t>
            </a:r>
          </a:p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Pagos em 3 parcelas consecutivas após </a:t>
            </a:r>
            <a:r>
              <a:rPr lang="en-US" sz="1200" b="true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acionar a opção de compra do imóvel.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29884" y="6410245"/>
            <a:ext cx="1685658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Saldo em 60 meses</a:t>
            </a:r>
          </a:p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Parcelas mensais</a:t>
            </a:r>
          </a:p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e consecutivas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72180" y="4209963"/>
            <a:ext cx="400002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PELA NEGOCIAÇÃO DO IMÓVEL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351783" y="4474123"/>
            <a:ext cx="35473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Património Imobiliário (100%)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98723" y="5318392"/>
            <a:ext cx="1309815" cy="3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R$ 170.879,23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89292" y="5068124"/>
            <a:ext cx="719829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SALDO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17350" y="5036122"/>
            <a:ext cx="1696376" cy="40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TOTAL DESTINADO</a:t>
            </a:r>
          </a:p>
          <a:p>
            <a:pPr algn="ctr">
              <a:lnSpc>
                <a:spcPts val="1586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AO VENDEDOR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129884" y="5589464"/>
            <a:ext cx="1683842" cy="35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2"/>
              </a:lnSpc>
            </a:pPr>
            <a:r>
              <a:rPr lang="en-US" b="true" sz="1787">
                <a:solidFill>
                  <a:srgbClr val="FFFFFF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R$ 1.124.057,57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84572" y="6410245"/>
            <a:ext cx="1123965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Fechamento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48523" y="1957120"/>
            <a:ext cx="13629949" cy="28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7"/>
              </a:lnSpc>
            </a:pPr>
            <a:r>
              <a:rPr lang="en-US" sz="2007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Como você recebe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26010" y="8346278"/>
            <a:ext cx="3327178" cy="46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1"/>
              </a:lnSpc>
            </a:pPr>
            <a:r>
              <a:rPr lang="en-US" sz="1522" b="true">
                <a:solidFill>
                  <a:srgbClr val="F14916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RESUMO TOTAL</a:t>
            </a:r>
          </a:p>
          <a:p>
            <a:pPr algn="l">
              <a:lnSpc>
                <a:spcPts val="1841"/>
              </a:lnSpc>
            </a:pPr>
            <a:r>
              <a:rPr lang="en-US" sz="1522" b="true">
                <a:solidFill>
                  <a:srgbClr val="F14916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DESTINADO </a:t>
            </a:r>
            <a:r>
              <a:rPr lang="en-US" sz="1522" b="true">
                <a:solidFill>
                  <a:srgbClr val="012554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AOS VENDEDORES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017553" y="8073481"/>
            <a:ext cx="837783" cy="23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1"/>
              </a:lnSpc>
            </a:pPr>
            <a:r>
              <a:rPr lang="en-US" sz="1522" b="true">
                <a:solidFill>
                  <a:srgbClr val="F14916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TOTAL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90793" y="8201713"/>
            <a:ext cx="517844" cy="67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7"/>
              </a:lnSpc>
            </a:pPr>
            <a:r>
              <a:rPr lang="en-US" b="true" sz="4427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+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650964" y="8333378"/>
            <a:ext cx="643665" cy="2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1"/>
              </a:lnSpc>
            </a:pPr>
            <a:r>
              <a:rPr lang="en-US" sz="1373" b="true">
                <a:solidFill>
                  <a:srgbClr val="31562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Imóvel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745463" y="8312933"/>
            <a:ext cx="1676499" cy="2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1"/>
              </a:lnSpc>
            </a:pPr>
            <a:r>
              <a:rPr lang="en-US" sz="1373" b="true">
                <a:solidFill>
                  <a:srgbClr val="00204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Escola (70%)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650964" y="8493061"/>
            <a:ext cx="1532149" cy="27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596" b="true">
                <a:solidFill>
                  <a:srgbClr val="31562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R$ 1.124.057,57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45463" y="8472616"/>
            <a:ext cx="1532149" cy="27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596" b="true">
                <a:solidFill>
                  <a:srgbClr val="00204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R$ 191.677,37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17553" y="8176844"/>
            <a:ext cx="2687672" cy="52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8"/>
              </a:lnSpc>
            </a:pPr>
            <a:r>
              <a:rPr lang="en-US" sz="2770" b="true">
                <a:solidFill>
                  <a:srgbClr val="F14916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R$ 1.315.734,94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044146" y="8655689"/>
            <a:ext cx="2415502" cy="33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sz="1061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Valor total que os mantenedores receberão com a transação.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68953" y="8241504"/>
            <a:ext cx="517844" cy="67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7"/>
              </a:lnSpc>
            </a:pPr>
            <a:r>
              <a:rPr lang="en-US" b="true" sz="4427">
                <a:solidFill>
                  <a:srgbClr val="00235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=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456215" y="98720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56215" y="120196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867325" y="2130995"/>
            <a:ext cx="824703" cy="11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69"/>
              </a:lnSpc>
            </a:pPr>
            <a:r>
              <a:rPr lang="en-US" sz="8569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_</a:t>
            </a:r>
          </a:p>
        </p:txBody>
      </p:sp>
      <p:sp>
        <p:nvSpPr>
          <p:cNvPr name="AutoShape 57" id="57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58" id="58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59" id="59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0" id="60"/>
          <p:cNvSpPr/>
          <p:nvPr/>
        </p:nvSpPr>
        <p:spPr>
          <a:xfrm rot="0">
            <a:off x="17114534" y="6654381"/>
            <a:ext cx="1330869" cy="3602276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61" id="61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62" id="62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3693424" y="5130206"/>
            <a:ext cx="213650" cy="1200507"/>
          </a:xfrm>
          <a:custGeom>
            <a:avLst/>
            <a:gdLst/>
            <a:ahLst/>
            <a:cxnLst/>
            <a:rect r="r" b="b" t="t" l="l"/>
            <a:pathLst>
              <a:path h="1200507" w="213650">
                <a:moveTo>
                  <a:pt x="0" y="0"/>
                </a:moveTo>
                <a:lnTo>
                  <a:pt x="213649" y="0"/>
                </a:lnTo>
                <a:lnTo>
                  <a:pt x="213649" y="1200507"/>
                </a:lnTo>
                <a:lnTo>
                  <a:pt x="0" y="120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6104757" y="4957900"/>
            <a:ext cx="213650" cy="1210681"/>
          </a:xfrm>
          <a:custGeom>
            <a:avLst/>
            <a:gdLst/>
            <a:ahLst/>
            <a:cxnLst/>
            <a:rect r="r" b="b" t="t" l="l"/>
            <a:pathLst>
              <a:path h="1210681" w="213650">
                <a:moveTo>
                  <a:pt x="0" y="0"/>
                </a:moveTo>
                <a:lnTo>
                  <a:pt x="213649" y="0"/>
                </a:lnTo>
                <a:lnTo>
                  <a:pt x="213649" y="1210681"/>
                </a:lnTo>
                <a:lnTo>
                  <a:pt x="0" y="1210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6422651" y="5526984"/>
            <a:ext cx="1871978" cy="610428"/>
          </a:xfrm>
          <a:custGeom>
            <a:avLst/>
            <a:gdLst/>
            <a:ahLst/>
            <a:cxnLst/>
            <a:rect r="r" b="b" t="t" l="l"/>
            <a:pathLst>
              <a:path h="610428" w="1871978">
                <a:moveTo>
                  <a:pt x="0" y="0"/>
                </a:moveTo>
                <a:lnTo>
                  <a:pt x="1871978" y="0"/>
                </a:lnTo>
                <a:lnTo>
                  <a:pt x="1871978" y="610427"/>
                </a:lnTo>
                <a:lnTo>
                  <a:pt x="0" y="6104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3260" t="-31666" r="-5434" b="-1666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913818" y="4237039"/>
            <a:ext cx="661786" cy="575754"/>
          </a:xfrm>
          <a:custGeom>
            <a:avLst/>
            <a:gdLst/>
            <a:ahLst/>
            <a:cxnLst/>
            <a:rect r="r" b="b" t="t" l="l"/>
            <a:pathLst>
              <a:path h="575754" w="661786">
                <a:moveTo>
                  <a:pt x="0" y="0"/>
                </a:moveTo>
                <a:lnTo>
                  <a:pt x="661786" y="0"/>
                </a:lnTo>
                <a:lnTo>
                  <a:pt x="661786" y="575753"/>
                </a:lnTo>
                <a:lnTo>
                  <a:pt x="0" y="57575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2304140" y="5092106"/>
            <a:ext cx="885184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ENTRADA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55691" y="5720860"/>
            <a:ext cx="1544365" cy="38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em 3 parcelas de</a:t>
            </a:r>
          </a:p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R$ 9.712,93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270391" y="5363167"/>
            <a:ext cx="1343836" cy="3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R$ 162.538,58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123780" y="5736623"/>
            <a:ext cx="1637057" cy="38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em 60 parcelas de</a:t>
            </a:r>
          </a:p>
          <a:p>
            <a:pPr algn="ctr">
              <a:lnSpc>
                <a:spcPts val="1367"/>
              </a:lnSpc>
            </a:pPr>
            <a:r>
              <a:rPr lang="en-US" sz="1266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R$ 2.708,98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047640" y="6426369"/>
            <a:ext cx="2163942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3 primeiros pagamentos</a:t>
            </a:r>
          </a:p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Pagos em 3 parcelas consecutivas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608971" y="6426369"/>
            <a:ext cx="1685658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Saldo em 60 meses</a:t>
            </a:r>
          </a:p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Parcelas mensais</a:t>
            </a:r>
          </a:p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e consecutivas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091825" y="5352548"/>
            <a:ext cx="1309815" cy="3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003B4A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R$ 29.138,79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582394" y="5102279"/>
            <a:ext cx="719829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SALDO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510452" y="5070277"/>
            <a:ext cx="1696376" cy="40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TOTAL DESTINADO</a:t>
            </a:r>
          </a:p>
          <a:p>
            <a:pPr algn="ctr">
              <a:lnSpc>
                <a:spcPts val="1586"/>
              </a:lnSpc>
            </a:pPr>
            <a:r>
              <a:rPr lang="en-US" b="true" sz="1300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AO VENDEDOR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522986" y="5623620"/>
            <a:ext cx="1683842" cy="35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2"/>
              </a:lnSpc>
            </a:pPr>
            <a:r>
              <a:rPr lang="en-US" b="true" sz="1787">
                <a:solidFill>
                  <a:srgbClr val="FFFFFF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R$ 191.677,37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277674" y="6406913"/>
            <a:ext cx="1123965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Fechamento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846997" y="4244119"/>
            <a:ext cx="38098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PELA NEGOCIAÇÃO DA ESCOLA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823028" y="4517518"/>
            <a:ext cx="238135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3B4A"/>
                </a:solidFill>
                <a:latin typeface="Neulis Neue"/>
                <a:ea typeface="Neulis Neue"/>
                <a:cs typeface="Neulis Neue"/>
                <a:sym typeface="Neulis Neue"/>
              </a:rPr>
              <a:t>Operação Escolar (70%)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0748" y="3538039"/>
            <a:ext cx="1934962" cy="437279"/>
          </a:xfrm>
          <a:custGeom>
            <a:avLst/>
            <a:gdLst/>
            <a:ahLst/>
            <a:cxnLst/>
            <a:rect r="r" b="b" t="t" l="l"/>
            <a:pathLst>
              <a:path h="437279" w="1934962">
                <a:moveTo>
                  <a:pt x="0" y="0"/>
                </a:moveTo>
                <a:lnTo>
                  <a:pt x="1934962" y="0"/>
                </a:lnTo>
                <a:lnTo>
                  <a:pt x="1934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4" t="-19999" r="0" b="-2999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4197" y="3538039"/>
            <a:ext cx="1934962" cy="437279"/>
          </a:xfrm>
          <a:custGeom>
            <a:avLst/>
            <a:gdLst/>
            <a:ahLst/>
            <a:cxnLst/>
            <a:rect r="r" b="b" t="t" l="l"/>
            <a:pathLst>
              <a:path h="437279" w="1934962">
                <a:moveTo>
                  <a:pt x="0" y="0"/>
                </a:moveTo>
                <a:lnTo>
                  <a:pt x="1934962" y="0"/>
                </a:lnTo>
                <a:lnTo>
                  <a:pt x="1934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44" t="-19999" r="-5649" b="-299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02483" y="3538039"/>
            <a:ext cx="1956826" cy="437279"/>
          </a:xfrm>
          <a:custGeom>
            <a:avLst/>
            <a:gdLst/>
            <a:ahLst/>
            <a:cxnLst/>
            <a:rect r="r" b="b" t="t" l="l"/>
            <a:pathLst>
              <a:path h="437279" w="1956826">
                <a:moveTo>
                  <a:pt x="0" y="0"/>
                </a:moveTo>
                <a:lnTo>
                  <a:pt x="1956826" y="0"/>
                </a:lnTo>
                <a:lnTo>
                  <a:pt x="195682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38" t="-19999" r="-2793" b="-2999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04362" y="7331880"/>
            <a:ext cx="4296025" cy="877559"/>
            <a:chOff x="0" y="0"/>
            <a:chExt cx="1240413" cy="2533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0413" cy="253382"/>
            </a:xfrm>
            <a:custGeom>
              <a:avLst/>
              <a:gdLst/>
              <a:ahLst/>
              <a:cxnLst/>
              <a:rect r="r" b="b" t="t" l="l"/>
              <a:pathLst>
                <a:path h="253382" w="1240413">
                  <a:moveTo>
                    <a:pt x="30636" y="0"/>
                  </a:moveTo>
                  <a:lnTo>
                    <a:pt x="1209777" y="0"/>
                  </a:lnTo>
                  <a:cubicBezTo>
                    <a:pt x="1217902" y="0"/>
                    <a:pt x="1225694" y="3228"/>
                    <a:pt x="1231439" y="8973"/>
                  </a:cubicBezTo>
                  <a:cubicBezTo>
                    <a:pt x="1237185" y="14718"/>
                    <a:pt x="1240413" y="22511"/>
                    <a:pt x="1240413" y="30636"/>
                  </a:cubicBezTo>
                  <a:lnTo>
                    <a:pt x="1240413" y="222746"/>
                  </a:lnTo>
                  <a:cubicBezTo>
                    <a:pt x="1240413" y="239666"/>
                    <a:pt x="1226696" y="253382"/>
                    <a:pt x="1209777" y="253382"/>
                  </a:cubicBezTo>
                  <a:lnTo>
                    <a:pt x="30636" y="253382"/>
                  </a:lnTo>
                  <a:cubicBezTo>
                    <a:pt x="13716" y="253382"/>
                    <a:pt x="0" y="239666"/>
                    <a:pt x="0" y="222746"/>
                  </a:cubicBezTo>
                  <a:lnTo>
                    <a:pt x="0" y="30636"/>
                  </a:lnTo>
                  <a:cubicBezTo>
                    <a:pt x="0" y="13716"/>
                    <a:pt x="13716" y="0"/>
                    <a:pt x="30636" y="0"/>
                  </a:cubicBezTo>
                  <a:close/>
                </a:path>
              </a:pathLst>
            </a:custGeom>
            <a:solidFill>
              <a:srgbClr val="EFF1EA"/>
            </a:solidFill>
            <a:ln w="9525" cap="sq">
              <a:solidFill>
                <a:srgbClr val="87A47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240413" cy="234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594" y="7386460"/>
            <a:ext cx="4296025" cy="877559"/>
            <a:chOff x="0" y="0"/>
            <a:chExt cx="1240413" cy="2533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0413" cy="253382"/>
            </a:xfrm>
            <a:custGeom>
              <a:avLst/>
              <a:gdLst/>
              <a:ahLst/>
              <a:cxnLst/>
              <a:rect r="r" b="b" t="t" l="l"/>
              <a:pathLst>
                <a:path h="253382" w="1240413">
                  <a:moveTo>
                    <a:pt x="30636" y="0"/>
                  </a:moveTo>
                  <a:lnTo>
                    <a:pt x="1209777" y="0"/>
                  </a:lnTo>
                  <a:cubicBezTo>
                    <a:pt x="1217902" y="0"/>
                    <a:pt x="1225694" y="3228"/>
                    <a:pt x="1231439" y="8973"/>
                  </a:cubicBezTo>
                  <a:cubicBezTo>
                    <a:pt x="1237185" y="14718"/>
                    <a:pt x="1240413" y="22511"/>
                    <a:pt x="1240413" y="30636"/>
                  </a:cubicBezTo>
                  <a:lnTo>
                    <a:pt x="1240413" y="222746"/>
                  </a:lnTo>
                  <a:cubicBezTo>
                    <a:pt x="1240413" y="239666"/>
                    <a:pt x="1226696" y="253382"/>
                    <a:pt x="1209777" y="253382"/>
                  </a:cubicBezTo>
                  <a:lnTo>
                    <a:pt x="30636" y="253382"/>
                  </a:lnTo>
                  <a:cubicBezTo>
                    <a:pt x="13716" y="253382"/>
                    <a:pt x="0" y="239666"/>
                    <a:pt x="0" y="222746"/>
                  </a:cubicBezTo>
                  <a:lnTo>
                    <a:pt x="0" y="30636"/>
                  </a:lnTo>
                  <a:cubicBezTo>
                    <a:pt x="0" y="13716"/>
                    <a:pt x="13716" y="0"/>
                    <a:pt x="30636" y="0"/>
                  </a:cubicBezTo>
                  <a:close/>
                </a:path>
              </a:pathLst>
            </a:custGeom>
            <a:solidFill>
              <a:srgbClr val="EAEDF1"/>
            </a:solidFill>
            <a:ln w="9525" cap="sq">
              <a:solidFill>
                <a:srgbClr val="7F8CA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240413" cy="234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47210" y="8118673"/>
            <a:ext cx="4296025" cy="877559"/>
            <a:chOff x="0" y="0"/>
            <a:chExt cx="1240413" cy="2533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0413" cy="253382"/>
            </a:xfrm>
            <a:custGeom>
              <a:avLst/>
              <a:gdLst/>
              <a:ahLst/>
              <a:cxnLst/>
              <a:rect r="r" b="b" t="t" l="l"/>
              <a:pathLst>
                <a:path h="253382" w="1240413">
                  <a:moveTo>
                    <a:pt x="30636" y="0"/>
                  </a:moveTo>
                  <a:lnTo>
                    <a:pt x="1209777" y="0"/>
                  </a:lnTo>
                  <a:cubicBezTo>
                    <a:pt x="1217902" y="0"/>
                    <a:pt x="1225694" y="3228"/>
                    <a:pt x="1231439" y="8973"/>
                  </a:cubicBezTo>
                  <a:cubicBezTo>
                    <a:pt x="1237185" y="14718"/>
                    <a:pt x="1240413" y="22511"/>
                    <a:pt x="1240413" y="30636"/>
                  </a:cubicBezTo>
                  <a:lnTo>
                    <a:pt x="1240413" y="222746"/>
                  </a:lnTo>
                  <a:cubicBezTo>
                    <a:pt x="1240413" y="239666"/>
                    <a:pt x="1226696" y="253382"/>
                    <a:pt x="1209777" y="253382"/>
                  </a:cubicBezTo>
                  <a:lnTo>
                    <a:pt x="30636" y="253382"/>
                  </a:lnTo>
                  <a:cubicBezTo>
                    <a:pt x="13716" y="253382"/>
                    <a:pt x="0" y="239666"/>
                    <a:pt x="0" y="222746"/>
                  </a:cubicBezTo>
                  <a:lnTo>
                    <a:pt x="0" y="30636"/>
                  </a:lnTo>
                  <a:cubicBezTo>
                    <a:pt x="0" y="13716"/>
                    <a:pt x="13716" y="0"/>
                    <a:pt x="30636" y="0"/>
                  </a:cubicBezTo>
                  <a:close/>
                </a:path>
              </a:pathLst>
            </a:custGeom>
            <a:solidFill>
              <a:srgbClr val="FFEFEA"/>
            </a:solidFill>
            <a:ln w="9525" cap="sq">
              <a:solidFill>
                <a:srgbClr val="FFB37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240413" cy="234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39893" y="4817192"/>
            <a:ext cx="4368861" cy="218964"/>
          </a:xfrm>
          <a:custGeom>
            <a:avLst/>
            <a:gdLst/>
            <a:ahLst/>
            <a:cxnLst/>
            <a:rect r="r" b="b" t="t" l="l"/>
            <a:pathLst>
              <a:path h="218964" w="4368861">
                <a:moveTo>
                  <a:pt x="0" y="0"/>
                </a:moveTo>
                <a:lnTo>
                  <a:pt x="4368862" y="0"/>
                </a:lnTo>
                <a:lnTo>
                  <a:pt x="4368862" y="218964"/>
                </a:lnTo>
                <a:lnTo>
                  <a:pt x="0" y="21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28937" y="4845767"/>
            <a:ext cx="4368861" cy="218964"/>
          </a:xfrm>
          <a:custGeom>
            <a:avLst/>
            <a:gdLst/>
            <a:ahLst/>
            <a:cxnLst/>
            <a:rect r="r" b="b" t="t" l="l"/>
            <a:pathLst>
              <a:path h="218964" w="4368861">
                <a:moveTo>
                  <a:pt x="0" y="0"/>
                </a:moveTo>
                <a:lnTo>
                  <a:pt x="4368862" y="0"/>
                </a:lnTo>
                <a:lnTo>
                  <a:pt x="4368862" y="218964"/>
                </a:lnTo>
                <a:lnTo>
                  <a:pt x="0" y="21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46003" y="4851680"/>
            <a:ext cx="4368861" cy="218964"/>
          </a:xfrm>
          <a:custGeom>
            <a:avLst/>
            <a:gdLst/>
            <a:ahLst/>
            <a:cxnLst/>
            <a:rect r="r" b="b" t="t" l="l"/>
            <a:pathLst>
              <a:path h="218964" w="4368861">
                <a:moveTo>
                  <a:pt x="0" y="0"/>
                </a:moveTo>
                <a:lnTo>
                  <a:pt x="4368861" y="0"/>
                </a:lnTo>
                <a:lnTo>
                  <a:pt x="4368861" y="218965"/>
                </a:lnTo>
                <a:lnTo>
                  <a:pt x="0" y="218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018936" y="63066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1" y="0"/>
                </a:lnTo>
                <a:lnTo>
                  <a:pt x="229571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850965" y="623051"/>
            <a:ext cx="2083982" cy="972874"/>
            <a:chOff x="0" y="0"/>
            <a:chExt cx="2778642" cy="12971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30897" y="4184868"/>
            <a:ext cx="699647" cy="69964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562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19941" y="4213443"/>
            <a:ext cx="699647" cy="69964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1D4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37007" y="4219357"/>
            <a:ext cx="699647" cy="69964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490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4485" y="5294105"/>
            <a:ext cx="479240" cy="47924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FE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30145" y="5121881"/>
            <a:ext cx="479240" cy="47924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E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47210" y="5127795"/>
            <a:ext cx="479240" cy="47924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E0C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04362" y="6328688"/>
            <a:ext cx="479240" cy="47924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FE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30145" y="5667797"/>
            <a:ext cx="479240" cy="47924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E9F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147210" y="5673710"/>
            <a:ext cx="479240" cy="47924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E0CC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830145" y="6213712"/>
            <a:ext cx="479240" cy="47924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E9F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47210" y="6219625"/>
            <a:ext cx="479240" cy="479240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E0CC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591550" y="5421170"/>
            <a:ext cx="225109" cy="225109"/>
          </a:xfrm>
          <a:custGeom>
            <a:avLst/>
            <a:gdLst/>
            <a:ahLst/>
            <a:cxnLst/>
            <a:rect r="r" b="b" t="t" l="l"/>
            <a:pathLst>
              <a:path h="225109" w="225109">
                <a:moveTo>
                  <a:pt x="0" y="0"/>
                </a:moveTo>
                <a:lnTo>
                  <a:pt x="225109" y="0"/>
                </a:lnTo>
                <a:lnTo>
                  <a:pt x="225109" y="225110"/>
                </a:lnTo>
                <a:lnTo>
                  <a:pt x="0" y="225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6957210" y="5248947"/>
            <a:ext cx="225109" cy="225109"/>
          </a:xfrm>
          <a:custGeom>
            <a:avLst/>
            <a:gdLst/>
            <a:ahLst/>
            <a:cxnLst/>
            <a:rect r="r" b="b" t="t" l="l"/>
            <a:pathLst>
              <a:path h="225109" w="225109">
                <a:moveTo>
                  <a:pt x="0" y="0"/>
                </a:moveTo>
                <a:lnTo>
                  <a:pt x="225109" y="0"/>
                </a:lnTo>
                <a:lnTo>
                  <a:pt x="225109" y="225109"/>
                </a:lnTo>
                <a:lnTo>
                  <a:pt x="0" y="2251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2274276" y="5254860"/>
            <a:ext cx="225109" cy="225109"/>
          </a:xfrm>
          <a:custGeom>
            <a:avLst/>
            <a:gdLst/>
            <a:ahLst/>
            <a:cxnLst/>
            <a:rect r="r" b="b" t="t" l="l"/>
            <a:pathLst>
              <a:path h="225109" w="225109">
                <a:moveTo>
                  <a:pt x="0" y="0"/>
                </a:moveTo>
                <a:lnTo>
                  <a:pt x="225109" y="0"/>
                </a:lnTo>
                <a:lnTo>
                  <a:pt x="225109" y="225110"/>
                </a:lnTo>
                <a:lnTo>
                  <a:pt x="0" y="2251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629052" y="6439056"/>
            <a:ext cx="227485" cy="258506"/>
          </a:xfrm>
          <a:custGeom>
            <a:avLst/>
            <a:gdLst/>
            <a:ahLst/>
            <a:cxnLst/>
            <a:rect r="r" b="b" t="t" l="l"/>
            <a:pathLst>
              <a:path h="258506" w="227485">
                <a:moveTo>
                  <a:pt x="0" y="0"/>
                </a:moveTo>
                <a:lnTo>
                  <a:pt x="227485" y="0"/>
                </a:lnTo>
                <a:lnTo>
                  <a:pt x="227485" y="258505"/>
                </a:lnTo>
                <a:lnTo>
                  <a:pt x="0" y="2585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954834" y="5778164"/>
            <a:ext cx="227485" cy="258506"/>
          </a:xfrm>
          <a:custGeom>
            <a:avLst/>
            <a:gdLst/>
            <a:ahLst/>
            <a:cxnLst/>
            <a:rect r="r" b="b" t="t" l="l"/>
            <a:pathLst>
              <a:path h="258506" w="227485">
                <a:moveTo>
                  <a:pt x="0" y="0"/>
                </a:moveTo>
                <a:lnTo>
                  <a:pt x="227485" y="0"/>
                </a:lnTo>
                <a:lnTo>
                  <a:pt x="227485" y="258506"/>
                </a:lnTo>
                <a:lnTo>
                  <a:pt x="0" y="25850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575463" y="4330623"/>
            <a:ext cx="408139" cy="408139"/>
          </a:xfrm>
          <a:custGeom>
            <a:avLst/>
            <a:gdLst/>
            <a:ahLst/>
            <a:cxnLst/>
            <a:rect r="r" b="b" t="t" l="l"/>
            <a:pathLst>
              <a:path h="408139" w="408139">
                <a:moveTo>
                  <a:pt x="0" y="0"/>
                </a:moveTo>
                <a:lnTo>
                  <a:pt x="408139" y="0"/>
                </a:lnTo>
                <a:lnTo>
                  <a:pt x="408139" y="408138"/>
                </a:lnTo>
                <a:lnTo>
                  <a:pt x="0" y="40813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6858594" y="4359198"/>
            <a:ext cx="419965" cy="419965"/>
          </a:xfrm>
          <a:custGeom>
            <a:avLst/>
            <a:gdLst/>
            <a:ahLst/>
            <a:cxnLst/>
            <a:rect r="r" b="b" t="t" l="l"/>
            <a:pathLst>
              <a:path h="419965" w="419965">
                <a:moveTo>
                  <a:pt x="0" y="0"/>
                </a:moveTo>
                <a:lnTo>
                  <a:pt x="419966" y="0"/>
                </a:lnTo>
                <a:lnTo>
                  <a:pt x="419966" y="419965"/>
                </a:lnTo>
                <a:lnTo>
                  <a:pt x="0" y="41996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194611" y="4381620"/>
            <a:ext cx="384439" cy="363295"/>
          </a:xfrm>
          <a:custGeom>
            <a:avLst/>
            <a:gdLst/>
            <a:ahLst/>
            <a:cxnLst/>
            <a:rect r="r" b="b" t="t" l="l"/>
            <a:pathLst>
              <a:path h="363295" w="384439">
                <a:moveTo>
                  <a:pt x="0" y="0"/>
                </a:moveTo>
                <a:lnTo>
                  <a:pt x="384439" y="0"/>
                </a:lnTo>
                <a:lnTo>
                  <a:pt x="384439" y="363294"/>
                </a:lnTo>
                <a:lnTo>
                  <a:pt x="0" y="36329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10800000">
            <a:off x="4784795" y="3595712"/>
            <a:ext cx="2238191" cy="324538"/>
          </a:xfrm>
          <a:custGeom>
            <a:avLst/>
            <a:gdLst/>
            <a:ahLst/>
            <a:cxnLst/>
            <a:rect r="r" b="b" t="t" l="l"/>
            <a:pathLst>
              <a:path h="324538" w="2238191">
                <a:moveTo>
                  <a:pt x="0" y="0"/>
                </a:moveTo>
                <a:lnTo>
                  <a:pt x="2238192" y="0"/>
                </a:lnTo>
                <a:lnTo>
                  <a:pt x="2238192" y="324538"/>
                </a:lnTo>
                <a:lnTo>
                  <a:pt x="0" y="32453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-10800000">
            <a:off x="10227956" y="3573828"/>
            <a:ext cx="2238191" cy="324538"/>
          </a:xfrm>
          <a:custGeom>
            <a:avLst/>
            <a:gdLst/>
            <a:ahLst/>
            <a:cxnLst/>
            <a:rect r="r" b="b" t="t" l="l"/>
            <a:pathLst>
              <a:path h="324538" w="2238191">
                <a:moveTo>
                  <a:pt x="0" y="0"/>
                </a:moveTo>
                <a:lnTo>
                  <a:pt x="2238191" y="0"/>
                </a:lnTo>
                <a:lnTo>
                  <a:pt x="2238191" y="324538"/>
                </a:lnTo>
                <a:lnTo>
                  <a:pt x="0" y="32453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4" id="64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65" id="65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7" id="67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68" id="68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69" id="69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0" id="70"/>
          <p:cNvSpPr/>
          <p:nvPr/>
        </p:nvSpPr>
        <p:spPr>
          <a:xfrm rot="0">
            <a:off x="17114534" y="6654381"/>
            <a:ext cx="1330869" cy="3602276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71" id="71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72" id="72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2147210" y="6841741"/>
            <a:ext cx="479240" cy="479240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E0CC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2254055" y="6918446"/>
            <a:ext cx="265551" cy="325829"/>
          </a:xfrm>
          <a:custGeom>
            <a:avLst/>
            <a:gdLst/>
            <a:ahLst/>
            <a:cxnLst/>
            <a:rect r="r" b="b" t="t" l="l"/>
            <a:pathLst>
              <a:path h="325829" w="265551">
                <a:moveTo>
                  <a:pt x="0" y="0"/>
                </a:moveTo>
                <a:lnTo>
                  <a:pt x="265551" y="0"/>
                </a:lnTo>
                <a:lnTo>
                  <a:pt x="265551" y="325830"/>
                </a:lnTo>
                <a:lnTo>
                  <a:pt x="0" y="32583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8" id="78"/>
          <p:cNvSpPr txBox="true"/>
          <p:nvPr/>
        </p:nvSpPr>
        <p:spPr>
          <a:xfrm rot="0">
            <a:off x="1885799" y="2115040"/>
            <a:ext cx="11478762" cy="62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b="true" sz="3642" spc="-109">
                <a:solidFill>
                  <a:srgbClr val="011D47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 que você recebe no curto, médio e longo prazo.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211075" y="3592328"/>
            <a:ext cx="1206367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011D47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Médio prazo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290748" y="4524705"/>
            <a:ext cx="1636676" cy="2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29" b="true">
                <a:solidFill>
                  <a:srgbClr val="315629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Próximos 30 dias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570267" y="4557185"/>
            <a:ext cx="3437417" cy="2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29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30 dias após a conclusão da diligência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887333" y="4563098"/>
            <a:ext cx="3437417" cy="2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29" b="true">
                <a:solidFill>
                  <a:srgbClr val="FE4E02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Quando for acionada a compra do imóvel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134225" y="5198474"/>
            <a:ext cx="2097063" cy="62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4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Pró-labore, vinculado a </a:t>
            </a:r>
            <a:r>
              <a:rPr lang="en-US" sz="1153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participação do mantenedor na operação escolar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423269" y="5227049"/>
            <a:ext cx="840801" cy="22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4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Pró-labore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740335" y="5232963"/>
            <a:ext cx="840801" cy="22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4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Pró-labore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141646" y="6272411"/>
            <a:ext cx="2580355" cy="6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A</a:t>
            </a: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luguel transitório/ valor pago ao mantenedor </a:t>
            </a:r>
            <a:r>
              <a:rPr lang="en-US" sz="1153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enquanto não acionarmos a opção de compra do imóvel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419588" y="5720582"/>
            <a:ext cx="1684689" cy="35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Bônus de aquisição/</a:t>
            </a:r>
          </a:p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aluguel transitório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736654" y="5726495"/>
            <a:ext cx="1684689" cy="35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P</a:t>
            </a: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agamento do negócio (parcelas)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419588" y="6266497"/>
            <a:ext cx="1612902" cy="35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Início do pagamento do negócio (entrada)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736654" y="6272411"/>
            <a:ext cx="1612902" cy="35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Início do pagamento do imóvel (entrada)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986604" y="6931077"/>
            <a:ext cx="3518221" cy="31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8"/>
              </a:lnSpc>
            </a:pPr>
            <a:r>
              <a:rPr lang="en-US" sz="1034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Após as 3 parcelas iniciais, o saldo do negócio passa para 60 parcelas de R$ 2.708,98.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246849" y="7526281"/>
            <a:ext cx="4057454" cy="306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98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Após as 3 parcelas iniciais, os saldos passam para 60 parcelas de R$ 2.708,98 no negócio e 60 parcelas de R$15.886,31 no imóvel.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700644" y="5382957"/>
            <a:ext cx="1571932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4"/>
              </a:lnSpc>
            </a:pPr>
            <a:r>
              <a:rPr lang="en-US" b="true" sz="1253">
                <a:solidFill>
                  <a:srgbClr val="31562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R$ 10.000,00 / mês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660054" y="5218794"/>
            <a:ext cx="1571932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4"/>
              </a:lnSpc>
            </a:pPr>
            <a:r>
              <a:rPr lang="en-US" b="true" sz="1253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R$ 10.000,00 / mês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632732" y="5216647"/>
            <a:ext cx="1571932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4"/>
              </a:lnSpc>
            </a:pPr>
            <a:r>
              <a:rPr lang="en-US" b="true" sz="1253">
                <a:solidFill>
                  <a:srgbClr val="FF4F05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R$ 10.000,00 / mês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830385" y="6428406"/>
            <a:ext cx="1571932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54"/>
              </a:lnSpc>
            </a:pPr>
            <a:r>
              <a:rPr lang="en-US" b="true" sz="1253">
                <a:solidFill>
                  <a:srgbClr val="31562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R$ 5.000,00 / mês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627185" y="5769250"/>
            <a:ext cx="1571932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4"/>
              </a:lnSpc>
            </a:pPr>
            <a:r>
              <a:rPr lang="en-US" b="true" sz="1253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R$ 5.000,00 / mês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194535" y="6351298"/>
            <a:ext cx="2037451" cy="22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14"/>
              </a:lnSpc>
            </a:pPr>
            <a:r>
              <a:rPr lang="en-US" b="true" sz="1153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3 parcelas de R$ 20.000,00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4167213" y="6308478"/>
            <a:ext cx="2037451" cy="22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14"/>
              </a:lnSpc>
            </a:pPr>
            <a:r>
              <a:rPr lang="en-US" b="true" sz="1153">
                <a:solidFill>
                  <a:srgbClr val="FF4F05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3 parcelas de R$ 56.959,74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167213" y="5756649"/>
            <a:ext cx="2037451" cy="22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14"/>
              </a:lnSpc>
            </a:pPr>
            <a:r>
              <a:rPr lang="en-US" b="true" sz="1153">
                <a:solidFill>
                  <a:srgbClr val="FF4F05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 parcelas de R$ 2.708,98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177762" y="7465230"/>
            <a:ext cx="2837726" cy="6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4"/>
              </a:lnSpc>
            </a:pPr>
            <a:r>
              <a:rPr lang="en-US" b="true" sz="3617" spc="-130">
                <a:solidFill>
                  <a:srgbClr val="31562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R$ 15.000,00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7531994" y="7519810"/>
            <a:ext cx="2837726" cy="6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4"/>
              </a:lnSpc>
            </a:pPr>
            <a:r>
              <a:rPr lang="en-US" b="true" sz="3617" spc="-130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R$ 35.000,00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2820610" y="8252023"/>
            <a:ext cx="2837726" cy="6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4"/>
              </a:lnSpc>
            </a:pPr>
            <a:r>
              <a:rPr lang="en-US" b="true" sz="3617" spc="-130">
                <a:solidFill>
                  <a:srgbClr val="FD4C05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R$ 69.668,72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489973" y="3591952"/>
            <a:ext cx="153537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2652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Curto prazo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276661" y="3596667"/>
            <a:ext cx="160348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FF4D00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Longo prazo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271698" y="4292523"/>
            <a:ext cx="2278144" cy="32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1901">
                <a:solidFill>
                  <a:srgbClr val="2652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CURTO PRAZO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7560742" y="4321098"/>
            <a:ext cx="2278144" cy="32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1901">
                <a:solidFill>
                  <a:srgbClr val="012554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MÉDIO PRAZO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877808" y="4327011"/>
            <a:ext cx="2278144" cy="32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1901">
                <a:solidFill>
                  <a:srgbClr val="FE4E0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LONGO PRAZO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48421" y="7398555"/>
            <a:ext cx="1864385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4"/>
              </a:lnSpc>
            </a:pPr>
            <a:r>
              <a:rPr lang="en-US" b="true" sz="1253">
                <a:solidFill>
                  <a:srgbClr val="315629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Total mensal previsto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7253171" y="7453135"/>
            <a:ext cx="3563351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4"/>
              </a:lnSpc>
            </a:pPr>
            <a:r>
              <a:rPr lang="en-US" b="true" sz="1253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Total mensal nas 3 parcelas iniciais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864829" y="8185348"/>
            <a:ext cx="2917265" cy="2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4"/>
              </a:lnSpc>
            </a:pPr>
            <a:r>
              <a:rPr lang="en-US" b="true" sz="1253">
                <a:solidFill>
                  <a:srgbClr val="FD4C05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Total mensal nas 3 parcelas iniciais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843470" y="3011130"/>
            <a:ext cx="12094466" cy="26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42" b="true">
                <a:solidFill>
                  <a:srgbClr val="011D47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 proposta combina recorrência imediata, transição segura e pagamentos estruturados da operação e do imóvel.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904320" y="1859086"/>
            <a:ext cx="13578020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Perspectiva financeira por etapa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456215" y="98720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456215" y="120196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904828" y="1977051"/>
            <a:ext cx="824703" cy="11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69"/>
              </a:lnSpc>
            </a:pPr>
            <a:r>
              <a:rPr lang="en-US" sz="8569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_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2792239" y="6912780"/>
            <a:ext cx="2363712" cy="51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30% de participação sobre </a:t>
            </a:r>
            <a:r>
              <a:rPr lang="en-US" sz="1153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70% do lucro anual</a:t>
            </a:r>
            <a:r>
              <a:rPr lang="en-US" sz="1153" b="true">
                <a:solidFill>
                  <a:srgbClr val="011D47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 da operação escolar</a:t>
            </a:r>
          </a:p>
        </p:txBody>
      </p:sp>
      <p:sp>
        <p:nvSpPr>
          <p:cNvPr name="Freeform 118" id="118"/>
          <p:cNvSpPr/>
          <p:nvPr/>
        </p:nvSpPr>
        <p:spPr>
          <a:xfrm flipH="false" flipV="false" rot="0">
            <a:off x="12254055" y="6301201"/>
            <a:ext cx="265551" cy="325829"/>
          </a:xfrm>
          <a:custGeom>
            <a:avLst/>
            <a:gdLst/>
            <a:ahLst/>
            <a:cxnLst/>
            <a:rect r="r" b="b" t="t" l="l"/>
            <a:pathLst>
              <a:path h="325829" w="265551">
                <a:moveTo>
                  <a:pt x="0" y="0"/>
                </a:moveTo>
                <a:lnTo>
                  <a:pt x="265551" y="0"/>
                </a:lnTo>
                <a:lnTo>
                  <a:pt x="265551" y="325829"/>
                </a:lnTo>
                <a:lnTo>
                  <a:pt x="0" y="325829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12254055" y="5750921"/>
            <a:ext cx="265551" cy="325829"/>
          </a:xfrm>
          <a:custGeom>
            <a:avLst/>
            <a:gdLst/>
            <a:ahLst/>
            <a:cxnLst/>
            <a:rect r="r" b="b" t="t" l="l"/>
            <a:pathLst>
              <a:path h="325829" w="265551">
                <a:moveTo>
                  <a:pt x="0" y="0"/>
                </a:moveTo>
                <a:lnTo>
                  <a:pt x="265551" y="0"/>
                </a:lnTo>
                <a:lnTo>
                  <a:pt x="265551" y="325829"/>
                </a:lnTo>
                <a:lnTo>
                  <a:pt x="0" y="325829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6935801" y="6288076"/>
            <a:ext cx="265551" cy="325829"/>
          </a:xfrm>
          <a:custGeom>
            <a:avLst/>
            <a:gdLst/>
            <a:ahLst/>
            <a:cxnLst/>
            <a:rect r="r" b="b" t="t" l="l"/>
            <a:pathLst>
              <a:path h="325829" w="265551">
                <a:moveTo>
                  <a:pt x="0" y="0"/>
                </a:moveTo>
                <a:lnTo>
                  <a:pt x="265551" y="0"/>
                </a:lnTo>
                <a:lnTo>
                  <a:pt x="265551" y="325829"/>
                </a:lnTo>
                <a:lnTo>
                  <a:pt x="0" y="325829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8936" y="630667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1" y="0"/>
                </a:lnTo>
                <a:lnTo>
                  <a:pt x="229571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50965" y="623051"/>
            <a:ext cx="2083982" cy="972874"/>
            <a:chOff x="0" y="0"/>
            <a:chExt cx="2778642" cy="1297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5773" y="4509444"/>
            <a:ext cx="6275329" cy="5274632"/>
            <a:chOff x="0" y="0"/>
            <a:chExt cx="1409597" cy="11848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9597" cy="1184815"/>
            </a:xfrm>
            <a:custGeom>
              <a:avLst/>
              <a:gdLst/>
              <a:ahLst/>
              <a:cxnLst/>
              <a:rect r="r" b="b" t="t" l="l"/>
              <a:pathLst>
                <a:path h="1184815" w="1409597">
                  <a:moveTo>
                    <a:pt x="20973" y="0"/>
                  </a:moveTo>
                  <a:lnTo>
                    <a:pt x="1388624" y="0"/>
                  </a:lnTo>
                  <a:cubicBezTo>
                    <a:pt x="1400207" y="0"/>
                    <a:pt x="1409597" y="9390"/>
                    <a:pt x="1409597" y="20973"/>
                  </a:cubicBezTo>
                  <a:lnTo>
                    <a:pt x="1409597" y="1163842"/>
                  </a:lnTo>
                  <a:cubicBezTo>
                    <a:pt x="1409597" y="1175425"/>
                    <a:pt x="1400207" y="1184815"/>
                    <a:pt x="1388624" y="1184815"/>
                  </a:cubicBezTo>
                  <a:lnTo>
                    <a:pt x="20973" y="1184815"/>
                  </a:lnTo>
                  <a:cubicBezTo>
                    <a:pt x="9390" y="1184815"/>
                    <a:pt x="0" y="1175425"/>
                    <a:pt x="0" y="1163842"/>
                  </a:cubicBezTo>
                  <a:lnTo>
                    <a:pt x="0" y="20973"/>
                  </a:lnTo>
                  <a:cubicBezTo>
                    <a:pt x="0" y="9390"/>
                    <a:pt x="9390" y="0"/>
                    <a:pt x="20973" y="0"/>
                  </a:cubicBezTo>
                  <a:close/>
                </a:path>
              </a:pathLst>
            </a:custGeom>
            <a:solidFill>
              <a:srgbClr val="F9F9F7"/>
            </a:solidFill>
            <a:ln w="9525" cap="sq">
              <a:solidFill>
                <a:srgbClr val="7F8CA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409597" cy="116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08220" y="4509444"/>
            <a:ext cx="6278817" cy="5274632"/>
            <a:chOff x="0" y="0"/>
            <a:chExt cx="1410381" cy="11848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0381" cy="1184815"/>
            </a:xfrm>
            <a:custGeom>
              <a:avLst/>
              <a:gdLst/>
              <a:ahLst/>
              <a:cxnLst/>
              <a:rect r="r" b="b" t="t" l="l"/>
              <a:pathLst>
                <a:path h="1184815" w="1410381">
                  <a:moveTo>
                    <a:pt x="20961" y="0"/>
                  </a:moveTo>
                  <a:lnTo>
                    <a:pt x="1389419" y="0"/>
                  </a:lnTo>
                  <a:cubicBezTo>
                    <a:pt x="1394979" y="0"/>
                    <a:pt x="1400310" y="2208"/>
                    <a:pt x="1404241" y="6139"/>
                  </a:cubicBezTo>
                  <a:cubicBezTo>
                    <a:pt x="1408172" y="10070"/>
                    <a:pt x="1410381" y="15402"/>
                    <a:pt x="1410381" y="20961"/>
                  </a:cubicBezTo>
                  <a:lnTo>
                    <a:pt x="1410381" y="1163854"/>
                  </a:lnTo>
                  <a:cubicBezTo>
                    <a:pt x="1410381" y="1169413"/>
                    <a:pt x="1408172" y="1174745"/>
                    <a:pt x="1404241" y="1178676"/>
                  </a:cubicBezTo>
                  <a:cubicBezTo>
                    <a:pt x="1400310" y="1182607"/>
                    <a:pt x="1394979" y="1184815"/>
                    <a:pt x="1389419" y="1184815"/>
                  </a:cubicBezTo>
                  <a:lnTo>
                    <a:pt x="20961" y="1184815"/>
                  </a:lnTo>
                  <a:cubicBezTo>
                    <a:pt x="15402" y="1184815"/>
                    <a:pt x="10070" y="1182607"/>
                    <a:pt x="6139" y="1178676"/>
                  </a:cubicBezTo>
                  <a:cubicBezTo>
                    <a:pt x="2208" y="1174745"/>
                    <a:pt x="0" y="1169413"/>
                    <a:pt x="0" y="1163854"/>
                  </a:cubicBezTo>
                  <a:lnTo>
                    <a:pt x="0" y="20961"/>
                  </a:lnTo>
                  <a:cubicBezTo>
                    <a:pt x="0" y="15402"/>
                    <a:pt x="2208" y="10070"/>
                    <a:pt x="6139" y="6139"/>
                  </a:cubicBezTo>
                  <a:cubicBezTo>
                    <a:pt x="10070" y="2208"/>
                    <a:pt x="15402" y="0"/>
                    <a:pt x="20961" y="0"/>
                  </a:cubicBezTo>
                  <a:close/>
                </a:path>
              </a:pathLst>
            </a:custGeom>
            <a:solidFill>
              <a:srgbClr val="F9F9F7"/>
            </a:solidFill>
            <a:ln w="9525" cap="sq">
              <a:solidFill>
                <a:srgbClr val="7F8CA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410381" cy="116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68415" y="8362152"/>
            <a:ext cx="5460626" cy="1158869"/>
            <a:chOff x="0" y="0"/>
            <a:chExt cx="1226594" cy="260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6594" cy="260311"/>
            </a:xfrm>
            <a:custGeom>
              <a:avLst/>
              <a:gdLst/>
              <a:ahLst/>
              <a:cxnLst/>
              <a:rect r="r" b="b" t="t" l="l"/>
              <a:pathLst>
                <a:path h="260311" w="1226594">
                  <a:moveTo>
                    <a:pt x="24102" y="0"/>
                  </a:moveTo>
                  <a:lnTo>
                    <a:pt x="1202492" y="0"/>
                  </a:lnTo>
                  <a:cubicBezTo>
                    <a:pt x="1215803" y="0"/>
                    <a:pt x="1226594" y="10791"/>
                    <a:pt x="1226594" y="24102"/>
                  </a:cubicBezTo>
                  <a:lnTo>
                    <a:pt x="1226594" y="236209"/>
                  </a:lnTo>
                  <a:cubicBezTo>
                    <a:pt x="1226594" y="249520"/>
                    <a:pt x="1215803" y="260311"/>
                    <a:pt x="1202492" y="260311"/>
                  </a:cubicBezTo>
                  <a:lnTo>
                    <a:pt x="24102" y="260311"/>
                  </a:lnTo>
                  <a:cubicBezTo>
                    <a:pt x="10791" y="260311"/>
                    <a:pt x="0" y="249520"/>
                    <a:pt x="0" y="236209"/>
                  </a:cubicBezTo>
                  <a:lnTo>
                    <a:pt x="0" y="24102"/>
                  </a:lnTo>
                  <a:cubicBezTo>
                    <a:pt x="0" y="10791"/>
                    <a:pt x="10791" y="0"/>
                    <a:pt x="24102" y="0"/>
                  </a:cubicBezTo>
                  <a:close/>
                </a:path>
              </a:pathLst>
            </a:custGeom>
            <a:solidFill>
              <a:srgbClr val="EAEFF8"/>
            </a:solidFill>
            <a:ln w="9525" cap="sq">
              <a:solidFill>
                <a:srgbClr val="7F8CA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226594" cy="241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90862" y="7282115"/>
            <a:ext cx="5460626" cy="1078865"/>
            <a:chOff x="0" y="0"/>
            <a:chExt cx="1226594" cy="2423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6594" cy="242340"/>
            </a:xfrm>
            <a:custGeom>
              <a:avLst/>
              <a:gdLst/>
              <a:ahLst/>
              <a:cxnLst/>
              <a:rect r="r" b="b" t="t" l="l"/>
              <a:pathLst>
                <a:path h="242340" w="1226594">
                  <a:moveTo>
                    <a:pt x="24102" y="0"/>
                  </a:moveTo>
                  <a:lnTo>
                    <a:pt x="1202492" y="0"/>
                  </a:lnTo>
                  <a:cubicBezTo>
                    <a:pt x="1215803" y="0"/>
                    <a:pt x="1226594" y="10791"/>
                    <a:pt x="1226594" y="24102"/>
                  </a:cubicBezTo>
                  <a:lnTo>
                    <a:pt x="1226594" y="218238"/>
                  </a:lnTo>
                  <a:cubicBezTo>
                    <a:pt x="1226594" y="231549"/>
                    <a:pt x="1215803" y="242340"/>
                    <a:pt x="1202492" y="242340"/>
                  </a:cubicBezTo>
                  <a:lnTo>
                    <a:pt x="24102" y="242340"/>
                  </a:lnTo>
                  <a:cubicBezTo>
                    <a:pt x="10791" y="242340"/>
                    <a:pt x="0" y="231549"/>
                    <a:pt x="0" y="218238"/>
                  </a:cubicBezTo>
                  <a:lnTo>
                    <a:pt x="0" y="24102"/>
                  </a:lnTo>
                  <a:cubicBezTo>
                    <a:pt x="0" y="10791"/>
                    <a:pt x="10791" y="0"/>
                    <a:pt x="24102" y="0"/>
                  </a:cubicBezTo>
                  <a:close/>
                </a:path>
              </a:pathLst>
            </a:custGeom>
            <a:solidFill>
              <a:srgbClr val="F8F1EA"/>
            </a:solidFill>
            <a:ln w="9525" cap="sq">
              <a:solidFill>
                <a:srgbClr val="7F8CA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226594" cy="223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90862" y="8442155"/>
            <a:ext cx="5460626" cy="1078865"/>
            <a:chOff x="0" y="0"/>
            <a:chExt cx="1226594" cy="2423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6594" cy="242340"/>
            </a:xfrm>
            <a:custGeom>
              <a:avLst/>
              <a:gdLst/>
              <a:ahLst/>
              <a:cxnLst/>
              <a:rect r="r" b="b" t="t" l="l"/>
              <a:pathLst>
                <a:path h="242340" w="1226594">
                  <a:moveTo>
                    <a:pt x="24102" y="0"/>
                  </a:moveTo>
                  <a:lnTo>
                    <a:pt x="1202492" y="0"/>
                  </a:lnTo>
                  <a:cubicBezTo>
                    <a:pt x="1215803" y="0"/>
                    <a:pt x="1226594" y="10791"/>
                    <a:pt x="1226594" y="24102"/>
                  </a:cubicBezTo>
                  <a:lnTo>
                    <a:pt x="1226594" y="218238"/>
                  </a:lnTo>
                  <a:cubicBezTo>
                    <a:pt x="1226594" y="231549"/>
                    <a:pt x="1215803" y="242340"/>
                    <a:pt x="1202492" y="242340"/>
                  </a:cubicBezTo>
                  <a:lnTo>
                    <a:pt x="24102" y="242340"/>
                  </a:lnTo>
                  <a:cubicBezTo>
                    <a:pt x="10791" y="242340"/>
                    <a:pt x="0" y="231549"/>
                    <a:pt x="0" y="218238"/>
                  </a:cubicBezTo>
                  <a:lnTo>
                    <a:pt x="0" y="24102"/>
                  </a:lnTo>
                  <a:cubicBezTo>
                    <a:pt x="0" y="10791"/>
                    <a:pt x="10791" y="0"/>
                    <a:pt x="24102" y="0"/>
                  </a:cubicBezTo>
                  <a:close/>
                </a:path>
              </a:pathLst>
            </a:custGeom>
            <a:solidFill>
              <a:srgbClr val="F8F1EA"/>
            </a:solidFill>
            <a:ln w="9525" cap="sq">
              <a:solidFill>
                <a:srgbClr val="7F8CA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226594" cy="223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375696" y="5163545"/>
            <a:ext cx="1300178" cy="1585583"/>
          </a:xfrm>
          <a:custGeom>
            <a:avLst/>
            <a:gdLst/>
            <a:ahLst/>
            <a:cxnLst/>
            <a:rect r="r" b="b" t="t" l="l"/>
            <a:pathLst>
              <a:path h="1585583" w="1300178">
                <a:moveTo>
                  <a:pt x="0" y="0"/>
                </a:moveTo>
                <a:lnTo>
                  <a:pt x="1300178" y="0"/>
                </a:lnTo>
                <a:lnTo>
                  <a:pt x="1300178" y="1585583"/>
                </a:lnTo>
                <a:lnTo>
                  <a:pt x="0" y="15855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500013" y="8540422"/>
            <a:ext cx="767675" cy="767675"/>
          </a:xfrm>
          <a:custGeom>
            <a:avLst/>
            <a:gdLst/>
            <a:ahLst/>
            <a:cxnLst/>
            <a:rect r="r" b="b" t="t" l="l"/>
            <a:pathLst>
              <a:path h="767675" w="767675">
                <a:moveTo>
                  <a:pt x="0" y="0"/>
                </a:moveTo>
                <a:lnTo>
                  <a:pt x="767674" y="0"/>
                </a:lnTo>
                <a:lnTo>
                  <a:pt x="767674" y="767674"/>
                </a:lnTo>
                <a:lnTo>
                  <a:pt x="0" y="7676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210416" y="5500702"/>
            <a:ext cx="894980" cy="31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b="true" sz="1817" spc="138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........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28866" y="5230430"/>
            <a:ext cx="899332" cy="89933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1D4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68665" y="5230430"/>
            <a:ext cx="899332" cy="89933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10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077159" y="7453525"/>
            <a:ext cx="682568" cy="668917"/>
          </a:xfrm>
          <a:custGeom>
            <a:avLst/>
            <a:gdLst/>
            <a:ahLst/>
            <a:cxnLst/>
            <a:rect r="r" b="b" t="t" l="l"/>
            <a:pathLst>
              <a:path h="668917" w="682568">
                <a:moveTo>
                  <a:pt x="0" y="0"/>
                </a:moveTo>
                <a:lnTo>
                  <a:pt x="682568" y="0"/>
                </a:lnTo>
                <a:lnTo>
                  <a:pt x="682568" y="668917"/>
                </a:lnTo>
                <a:lnTo>
                  <a:pt x="0" y="6689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130624" y="8716042"/>
            <a:ext cx="575639" cy="543978"/>
          </a:xfrm>
          <a:custGeom>
            <a:avLst/>
            <a:gdLst/>
            <a:ahLst/>
            <a:cxnLst/>
            <a:rect r="r" b="b" t="t" l="l"/>
            <a:pathLst>
              <a:path h="543978" w="575639">
                <a:moveTo>
                  <a:pt x="0" y="0"/>
                </a:moveTo>
                <a:lnTo>
                  <a:pt x="575638" y="0"/>
                </a:lnTo>
                <a:lnTo>
                  <a:pt x="575638" y="543979"/>
                </a:lnTo>
                <a:lnTo>
                  <a:pt x="0" y="5439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129560" y="5433471"/>
            <a:ext cx="590236" cy="486945"/>
          </a:xfrm>
          <a:custGeom>
            <a:avLst/>
            <a:gdLst/>
            <a:ahLst/>
            <a:cxnLst/>
            <a:rect r="r" b="b" t="t" l="l"/>
            <a:pathLst>
              <a:path h="486945" w="590236">
                <a:moveTo>
                  <a:pt x="0" y="0"/>
                </a:moveTo>
                <a:lnTo>
                  <a:pt x="590237" y="0"/>
                </a:lnTo>
                <a:lnTo>
                  <a:pt x="590237" y="486945"/>
                </a:lnTo>
                <a:lnTo>
                  <a:pt x="0" y="4869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272186" y="5433471"/>
            <a:ext cx="590236" cy="486945"/>
          </a:xfrm>
          <a:custGeom>
            <a:avLst/>
            <a:gdLst/>
            <a:ahLst/>
            <a:cxnLst/>
            <a:rect r="r" b="b" t="t" l="l"/>
            <a:pathLst>
              <a:path h="486945" w="590236">
                <a:moveTo>
                  <a:pt x="0" y="0"/>
                </a:moveTo>
                <a:lnTo>
                  <a:pt x="590237" y="0"/>
                </a:lnTo>
                <a:lnTo>
                  <a:pt x="590237" y="486945"/>
                </a:lnTo>
                <a:lnTo>
                  <a:pt x="0" y="4869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885773" y="3623798"/>
            <a:ext cx="9270810" cy="53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50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Essas foram as despesas previamente levantadas pelo Colégio.</a:t>
            </a:r>
          </a:p>
          <a:p>
            <a:pPr algn="l">
              <a:lnSpc>
                <a:spcPts val="2109"/>
              </a:lnSpc>
            </a:pPr>
            <a:r>
              <a:rPr lang="en-US" sz="150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Nosso objetivo é </a:t>
            </a:r>
            <a:r>
              <a:rPr lang="en-US" sz="1507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proteger o investimento e assegurar uma transição tranquila </a:t>
            </a:r>
            <a:r>
              <a:rPr lang="en-US" sz="150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para todos.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85773" y="2463105"/>
            <a:ext cx="9080867" cy="10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434" spc="-137" b="true">
                <a:solidFill>
                  <a:srgbClr val="00304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Transparência total para começarmos juntos uma nova fase </a:t>
            </a:r>
            <a:r>
              <a:rPr lang="en-US" sz="3434" spc="-137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com segurança.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85773" y="2088455"/>
            <a:ext cx="13578020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 b="true">
                <a:solidFill>
                  <a:srgbClr val="F46825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Dívidas e contigências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35700" y="5051688"/>
            <a:ext cx="3528162" cy="93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15" b="true">
                <a:solidFill>
                  <a:srgbClr val="012554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RESERVA PARA TRATAMENTO DAS DÍVIDAS IDENTIFICADAS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39356" y="4746738"/>
            <a:ext cx="3163637" cy="3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b="true" sz="1817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DILIGÊNCIA DE 90 DIAS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7936" y="5404896"/>
            <a:ext cx="1039924" cy="3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931" b="true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90 DIAS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67735" y="5404896"/>
            <a:ext cx="1140429" cy="3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b="true" sz="1931">
                <a:solidFill>
                  <a:srgbClr val="FF5108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+90 DIAS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27936" y="5659836"/>
            <a:ext cx="1581818" cy="21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308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Diligência inicial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67735" y="5662329"/>
            <a:ext cx="1343048" cy="40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308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Prorrogação</a:t>
            </a:r>
          </a:p>
          <a:p>
            <a:pPr algn="l">
              <a:lnSpc>
                <a:spcPts val="1530"/>
              </a:lnSpc>
            </a:pPr>
            <a:r>
              <a:rPr lang="en-US" sz="1308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(se necessário)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56215" y="98720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56215" y="120196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35700" y="5978496"/>
            <a:ext cx="3528162" cy="85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</a:pPr>
            <a:r>
              <a:rPr lang="en-US" b="true" sz="4497" spc="-161">
                <a:solidFill>
                  <a:srgbClr val="FD4C05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R$ 130.940,86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70046" y="7311241"/>
            <a:ext cx="4857363" cy="45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484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Valor reservado exclusivamente para o tratamento</a:t>
            </a:r>
          </a:p>
          <a:p>
            <a:pPr algn="l">
              <a:lnSpc>
                <a:spcPts val="1662"/>
              </a:lnSpc>
            </a:pPr>
            <a:r>
              <a:rPr lang="en-US" sz="1484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das obrigações identificadas atualmente.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77159" y="6234537"/>
            <a:ext cx="4857363" cy="75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4"/>
              </a:lnSpc>
            </a:pPr>
            <a:r>
              <a:rPr lang="en-US" sz="1484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Poderemos prorrogar por mais 90 dias caso seja necessário aprofundar invetigações, documentos ou tratativas com órgãos competentes.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91206" y="7439465"/>
            <a:ext cx="4160431" cy="71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39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Caso </a:t>
            </a:r>
            <a:r>
              <a:rPr lang="en-US" sz="1398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sejam identificadas novas dívidas, </a:t>
            </a:r>
            <a:r>
              <a:rPr lang="en-US" sz="139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vamos</a:t>
            </a:r>
          </a:p>
          <a:p>
            <a:pPr algn="l">
              <a:lnSpc>
                <a:spcPts val="1860"/>
              </a:lnSpc>
            </a:pPr>
            <a:r>
              <a:rPr lang="en-US" sz="139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avaliar a melhor forma de seguirmos, </a:t>
            </a:r>
            <a:r>
              <a:rPr lang="en-US" sz="1398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podendo ajustar a proposta apresentada.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885088" y="8599504"/>
            <a:ext cx="4323075" cy="71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39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Caso o valor da dívida </a:t>
            </a:r>
            <a:r>
              <a:rPr lang="en-US" sz="1398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seja menor que o previsto,</a:t>
            </a:r>
            <a:r>
              <a:rPr lang="en-US" sz="139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 a </a:t>
            </a:r>
            <a:r>
              <a:rPr lang="en-US" sz="1398" b="true">
                <a:solidFill>
                  <a:srgbClr val="011D47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diferença será projetada/investida </a:t>
            </a:r>
            <a:r>
              <a:rPr lang="en-US" sz="1398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no crescimento do Colégio.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403965" y="8621984"/>
            <a:ext cx="4086435" cy="61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414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Este valor não é destinado aos vendedores.</a:t>
            </a:r>
          </a:p>
          <a:p>
            <a:pPr algn="l">
              <a:lnSpc>
                <a:spcPts val="1584"/>
              </a:lnSpc>
            </a:pPr>
            <a:r>
              <a:rPr lang="en-US" sz="1414">
                <a:solidFill>
                  <a:srgbClr val="011D47"/>
                </a:solidFill>
                <a:latin typeface="Neulis Neue"/>
                <a:ea typeface="Neulis Neue"/>
                <a:cs typeface="Neulis Neue"/>
                <a:sym typeface="Neulis Neue"/>
              </a:rPr>
              <a:t>Ele será utilizado conforme as conclusões da due diligence e das tratativas legais e fiscais.</a:t>
            </a:r>
          </a:p>
        </p:txBody>
      </p:sp>
      <p:sp>
        <p:nvSpPr>
          <p:cNvPr name="AutoShape 51" id="51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52" id="52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55" id="55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56" id="56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7" id="57"/>
          <p:cNvSpPr/>
          <p:nvPr/>
        </p:nvSpPr>
        <p:spPr>
          <a:xfrm rot="0">
            <a:off x="17114534" y="6654381"/>
            <a:ext cx="1330869" cy="3602276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58" id="58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59" id="59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36153" y="667256"/>
            <a:ext cx="229572" cy="1082267"/>
          </a:xfrm>
          <a:custGeom>
            <a:avLst/>
            <a:gdLst/>
            <a:ahLst/>
            <a:cxnLst/>
            <a:rect r="r" b="b" t="t" l="l"/>
            <a:pathLst>
              <a:path h="1082267" w="229572">
                <a:moveTo>
                  <a:pt x="0" y="0"/>
                </a:moveTo>
                <a:lnTo>
                  <a:pt x="229572" y="0"/>
                </a:lnTo>
                <a:lnTo>
                  <a:pt x="2295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8182" y="659640"/>
            <a:ext cx="2083982" cy="972874"/>
            <a:chOff x="0" y="0"/>
            <a:chExt cx="2778642" cy="1297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8642" cy="1149663"/>
            </a:xfrm>
            <a:custGeom>
              <a:avLst/>
              <a:gdLst/>
              <a:ahLst/>
              <a:cxnLst/>
              <a:rect r="r" b="b" t="t" l="l"/>
              <a:pathLst>
                <a:path h="1149663" w="2778642">
                  <a:moveTo>
                    <a:pt x="0" y="0"/>
                  </a:moveTo>
                  <a:lnTo>
                    <a:pt x="2778642" y="0"/>
                  </a:lnTo>
                  <a:lnTo>
                    <a:pt x="2778642" y="1149663"/>
                  </a:lnTo>
                  <a:lnTo>
                    <a:pt x="0" y="114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868297" y="1072744"/>
              <a:ext cx="829022" cy="22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4"/>
                </a:lnSpc>
              </a:pPr>
              <a:r>
                <a:rPr lang="en-US" b="true" sz="988" spc="-35">
                  <a:solidFill>
                    <a:srgbClr val="9A9C9F"/>
                  </a:solidFill>
                  <a:latin typeface="Eastman Alternate Trial Bold"/>
                  <a:ea typeface="Eastman Alternate Trial Bold"/>
                  <a:cs typeface="Eastman Alternate Trial Bold"/>
                  <a:sym typeface="Eastman Alternate Trial Bold"/>
                </a:rPr>
                <a:t>Educação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8182" y="4620621"/>
            <a:ext cx="8205190" cy="1421989"/>
            <a:chOff x="0" y="0"/>
            <a:chExt cx="1363168" cy="2362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3168" cy="236242"/>
            </a:xfrm>
            <a:custGeom>
              <a:avLst/>
              <a:gdLst/>
              <a:ahLst/>
              <a:cxnLst/>
              <a:rect r="r" b="b" t="t" l="l"/>
              <a:pathLst>
                <a:path h="236242" w="1363168">
                  <a:moveTo>
                    <a:pt x="0" y="0"/>
                  </a:moveTo>
                  <a:lnTo>
                    <a:pt x="1363168" y="0"/>
                  </a:lnTo>
                  <a:lnTo>
                    <a:pt x="1363168" y="236242"/>
                  </a:lnTo>
                  <a:lnTo>
                    <a:pt x="0" y="236242"/>
                  </a:lnTo>
                  <a:close/>
                </a:path>
              </a:pathLst>
            </a:custGeom>
            <a:solidFill>
              <a:srgbClr val="1DBB87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363168" cy="21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8182" y="6473517"/>
            <a:ext cx="8205190" cy="1352439"/>
            <a:chOff x="0" y="0"/>
            <a:chExt cx="1363168" cy="2246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3168" cy="224687"/>
            </a:xfrm>
            <a:custGeom>
              <a:avLst/>
              <a:gdLst/>
              <a:ahLst/>
              <a:cxnLst/>
              <a:rect r="r" b="b" t="t" l="l"/>
              <a:pathLst>
                <a:path h="224687" w="1363168">
                  <a:moveTo>
                    <a:pt x="0" y="0"/>
                  </a:moveTo>
                  <a:lnTo>
                    <a:pt x="1363168" y="0"/>
                  </a:lnTo>
                  <a:lnTo>
                    <a:pt x="1363168" y="224687"/>
                  </a:lnTo>
                  <a:lnTo>
                    <a:pt x="0" y="224687"/>
                  </a:lnTo>
                  <a:close/>
                </a:path>
              </a:pathLst>
            </a:custGeom>
            <a:solidFill>
              <a:srgbClr val="E2E9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363168" cy="205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8182" y="8283156"/>
            <a:ext cx="8205190" cy="1238793"/>
            <a:chOff x="0" y="0"/>
            <a:chExt cx="1363168" cy="2058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3168" cy="205807"/>
            </a:xfrm>
            <a:custGeom>
              <a:avLst/>
              <a:gdLst/>
              <a:ahLst/>
              <a:cxnLst/>
              <a:rect r="r" b="b" t="t" l="l"/>
              <a:pathLst>
                <a:path h="205807" w="1363168">
                  <a:moveTo>
                    <a:pt x="0" y="0"/>
                  </a:moveTo>
                  <a:lnTo>
                    <a:pt x="1363168" y="0"/>
                  </a:lnTo>
                  <a:lnTo>
                    <a:pt x="1363168" y="205807"/>
                  </a:lnTo>
                  <a:lnTo>
                    <a:pt x="0" y="205807"/>
                  </a:lnTo>
                  <a:close/>
                </a:path>
              </a:pathLst>
            </a:custGeom>
            <a:solidFill>
              <a:srgbClr val="FE8C68">
                <a:alpha val="32941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363168" cy="18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07158" y="6310693"/>
            <a:ext cx="5781204" cy="2233508"/>
            <a:chOff x="0" y="0"/>
            <a:chExt cx="1179303" cy="4556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9303" cy="455611"/>
            </a:xfrm>
            <a:custGeom>
              <a:avLst/>
              <a:gdLst/>
              <a:ahLst/>
              <a:cxnLst/>
              <a:rect r="r" b="b" t="t" l="l"/>
              <a:pathLst>
                <a:path h="455611" w="1179303">
                  <a:moveTo>
                    <a:pt x="0" y="0"/>
                  </a:moveTo>
                  <a:lnTo>
                    <a:pt x="1179303" y="0"/>
                  </a:lnTo>
                  <a:lnTo>
                    <a:pt x="1179303" y="455611"/>
                  </a:lnTo>
                  <a:lnTo>
                    <a:pt x="0" y="455611"/>
                  </a:ln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179303" cy="436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5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rot="-10800000">
            <a:off x="-2702060" y="-74092"/>
            <a:ext cx="3433286" cy="10287000"/>
          </a:xfrm>
          <a:prstGeom prst="rect">
            <a:avLst/>
          </a:prstGeom>
          <a:solidFill>
            <a:srgbClr val="004145"/>
          </a:solidFill>
        </p:spPr>
      </p:sp>
      <p:sp>
        <p:nvSpPr>
          <p:cNvPr name="Freeform 19" id="19"/>
          <p:cNvSpPr/>
          <p:nvPr/>
        </p:nvSpPr>
        <p:spPr>
          <a:xfrm flipH="false" flipV="true" rot="5400000">
            <a:off x="-4287976" y="5193705"/>
            <a:ext cx="5019202" cy="5019202"/>
          </a:xfrm>
          <a:custGeom>
            <a:avLst/>
            <a:gdLst/>
            <a:ahLst/>
            <a:cxnLst/>
            <a:rect r="r" b="b" t="t" l="l"/>
            <a:pathLst>
              <a:path h="5019202" w="5019202">
                <a:moveTo>
                  <a:pt x="0" y="5019203"/>
                </a:moveTo>
                <a:lnTo>
                  <a:pt x="5019203" y="5019203"/>
                </a:lnTo>
                <a:lnTo>
                  <a:pt x="5019203" y="0"/>
                </a:lnTo>
                <a:lnTo>
                  <a:pt x="0" y="0"/>
                </a:lnTo>
                <a:lnTo>
                  <a:pt x="0" y="501920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-5400000">
            <a:off x="-2702060" y="-74092"/>
            <a:ext cx="3433286" cy="3433286"/>
          </a:xfrm>
          <a:custGeom>
            <a:avLst/>
            <a:gdLst/>
            <a:ahLst/>
            <a:cxnLst/>
            <a:rect r="r" b="b" t="t" l="l"/>
            <a:pathLst>
              <a:path h="3433286" w="3433286">
                <a:moveTo>
                  <a:pt x="0" y="3433286"/>
                </a:moveTo>
                <a:lnTo>
                  <a:pt x="3433287" y="3433286"/>
                </a:lnTo>
                <a:lnTo>
                  <a:pt x="3433287" y="0"/>
                </a:lnTo>
                <a:lnTo>
                  <a:pt x="0" y="0"/>
                </a:lnTo>
                <a:lnTo>
                  <a:pt x="0" y="343328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rot="0">
            <a:off x="16945260" y="-384334"/>
            <a:ext cx="1872653" cy="1620248"/>
          </a:xfrm>
          <a:prstGeom prst="rect">
            <a:avLst/>
          </a:prstGeom>
          <a:solidFill>
            <a:srgbClr val="FF5B14"/>
          </a:solidFill>
        </p:spPr>
      </p:sp>
      <p:sp>
        <p:nvSpPr>
          <p:cNvPr name="AutoShape 22" id="22"/>
          <p:cNvSpPr/>
          <p:nvPr/>
        </p:nvSpPr>
        <p:spPr>
          <a:xfrm rot="0">
            <a:off x="17847626" y="1907284"/>
            <a:ext cx="1352265" cy="3315807"/>
          </a:xfrm>
          <a:prstGeom prst="rect">
            <a:avLst/>
          </a:prstGeom>
          <a:solidFill>
            <a:srgbClr val="8EBFC6"/>
          </a:solid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16945260" y="1116785"/>
            <a:ext cx="1580997" cy="1580997"/>
          </a:xfrm>
          <a:custGeom>
            <a:avLst/>
            <a:gdLst/>
            <a:ahLst/>
            <a:cxnLst/>
            <a:rect r="r" b="b" t="t" l="l"/>
            <a:pathLst>
              <a:path h="1580997" w="1580997">
                <a:moveTo>
                  <a:pt x="0" y="0"/>
                </a:moveTo>
                <a:lnTo>
                  <a:pt x="1580997" y="0"/>
                </a:lnTo>
                <a:lnTo>
                  <a:pt x="1580997" y="1580997"/>
                </a:lnTo>
                <a:lnTo>
                  <a:pt x="0" y="1580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rot="0">
            <a:off x="17114534" y="6654381"/>
            <a:ext cx="1330869" cy="3602276"/>
          </a:xfrm>
          <a:prstGeom prst="rect">
            <a:avLst/>
          </a:prstGeom>
          <a:solidFill>
            <a:srgbClr val="004245"/>
          </a:solidFill>
        </p:spPr>
      </p:sp>
      <p:sp>
        <p:nvSpPr>
          <p:cNvPr name="AutoShape 25" id="25"/>
          <p:cNvSpPr/>
          <p:nvPr/>
        </p:nvSpPr>
        <p:spPr>
          <a:xfrm rot="0">
            <a:off x="17114534" y="7825956"/>
            <a:ext cx="2661738" cy="2477818"/>
          </a:xfrm>
          <a:prstGeom prst="rect">
            <a:avLst/>
          </a:prstGeom>
          <a:solidFill>
            <a:srgbClr val="FFB235"/>
          </a:solidFill>
        </p:spPr>
      </p:sp>
      <p:sp>
        <p:nvSpPr>
          <p:cNvPr name="Freeform 26" id="26"/>
          <p:cNvSpPr/>
          <p:nvPr/>
        </p:nvSpPr>
        <p:spPr>
          <a:xfrm flipH="false" flipV="false" rot="0">
            <a:off x="17114534" y="3538039"/>
            <a:ext cx="3125867" cy="3125867"/>
          </a:xfrm>
          <a:custGeom>
            <a:avLst/>
            <a:gdLst/>
            <a:ahLst/>
            <a:cxnLst/>
            <a:rect r="r" b="b" t="t" l="l"/>
            <a:pathLst>
              <a:path h="3125867" w="3125867">
                <a:moveTo>
                  <a:pt x="0" y="0"/>
                </a:moveTo>
                <a:lnTo>
                  <a:pt x="3125867" y="0"/>
                </a:lnTo>
                <a:lnTo>
                  <a:pt x="3125867" y="3125867"/>
                </a:lnTo>
                <a:lnTo>
                  <a:pt x="0" y="31258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900455" y="8563757"/>
            <a:ext cx="794141" cy="794141"/>
          </a:xfrm>
          <a:custGeom>
            <a:avLst/>
            <a:gdLst/>
            <a:ahLst/>
            <a:cxnLst/>
            <a:rect r="r" b="b" t="t" l="l"/>
            <a:pathLst>
              <a:path h="794141" w="794141">
                <a:moveTo>
                  <a:pt x="0" y="0"/>
                </a:moveTo>
                <a:lnTo>
                  <a:pt x="794140" y="0"/>
                </a:lnTo>
                <a:lnTo>
                  <a:pt x="794140" y="794141"/>
                </a:lnTo>
                <a:lnTo>
                  <a:pt x="0" y="794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027562" y="4819695"/>
            <a:ext cx="933360" cy="933360"/>
          </a:xfrm>
          <a:custGeom>
            <a:avLst/>
            <a:gdLst/>
            <a:ahLst/>
            <a:cxnLst/>
            <a:rect r="r" b="b" t="t" l="l"/>
            <a:pathLst>
              <a:path h="933360" w="933360">
                <a:moveTo>
                  <a:pt x="0" y="0"/>
                </a:moveTo>
                <a:lnTo>
                  <a:pt x="933360" y="0"/>
                </a:lnTo>
                <a:lnTo>
                  <a:pt x="933360" y="933360"/>
                </a:lnTo>
                <a:lnTo>
                  <a:pt x="0" y="9333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002035" y="6658584"/>
            <a:ext cx="873533" cy="905215"/>
          </a:xfrm>
          <a:custGeom>
            <a:avLst/>
            <a:gdLst/>
            <a:ahLst/>
            <a:cxnLst/>
            <a:rect r="r" b="b" t="t" l="l"/>
            <a:pathLst>
              <a:path h="905215" w="873533">
                <a:moveTo>
                  <a:pt x="0" y="0"/>
                </a:moveTo>
                <a:lnTo>
                  <a:pt x="873533" y="0"/>
                </a:lnTo>
                <a:lnTo>
                  <a:pt x="873533" y="905215"/>
                </a:lnTo>
                <a:lnTo>
                  <a:pt x="0" y="90521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873307" y="8495440"/>
            <a:ext cx="797690" cy="809837"/>
          </a:xfrm>
          <a:custGeom>
            <a:avLst/>
            <a:gdLst/>
            <a:ahLst/>
            <a:cxnLst/>
            <a:rect r="r" b="b" t="t" l="l"/>
            <a:pathLst>
              <a:path h="809837" w="797690">
                <a:moveTo>
                  <a:pt x="0" y="0"/>
                </a:moveTo>
                <a:lnTo>
                  <a:pt x="797690" y="0"/>
                </a:lnTo>
                <a:lnTo>
                  <a:pt x="797690" y="809837"/>
                </a:lnTo>
                <a:lnTo>
                  <a:pt x="0" y="80983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50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668182" y="2284265"/>
            <a:ext cx="6885624" cy="125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0"/>
              </a:lnSpc>
            </a:pPr>
            <a:r>
              <a:rPr lang="en-US" sz="3247" spc="-97" b="true">
                <a:solidFill>
                  <a:srgbClr val="00274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Obrigado pela confiança. </a:t>
            </a:r>
            <a:r>
              <a:rPr lang="en-US" sz="3247" spc="-97" b="true">
                <a:solidFill>
                  <a:srgbClr val="F55E22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Juntos vamos construir o próximo capítulo do Colégio Cristo Rei.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8182" y="3915207"/>
            <a:ext cx="304909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800" b="true">
                <a:solidFill>
                  <a:srgbClr val="011D47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Próximos passos: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73432" y="1023791"/>
            <a:ext cx="3564265" cy="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705" b="true">
                <a:solidFill>
                  <a:srgbClr val="003B4A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REDE LUMO DE EDUCAÇÃO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73432" y="1238559"/>
            <a:ext cx="36257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605" b="true">
                <a:solidFill>
                  <a:srgbClr val="003B4A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Divisão de Expansão Estratégica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62412" y="5185646"/>
            <a:ext cx="6130277" cy="10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02" b="true">
                <a:solidFill>
                  <a:srgbClr val="315629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O Colégio terá 3 dias para formalizar o aceite da proposta, contados a partir do seu envio.</a:t>
            </a:r>
          </a:p>
          <a:p>
            <a:pPr algn="l">
              <a:lnSpc>
                <a:spcPts val="2103"/>
              </a:lnSpc>
            </a:pPr>
          </a:p>
          <a:p>
            <a:pPr algn="l">
              <a:lnSpc>
                <a:spcPts val="2103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093071" y="7015442"/>
            <a:ext cx="6130277" cy="56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02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O colégio terá até 5 dias para analisar o contrato, podendo devolvê-lo </a:t>
            </a:r>
            <a:r>
              <a:rPr lang="en-US" sz="1502" b="true">
                <a:solidFill>
                  <a:srgbClr val="012554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uma única vez com sugestões de ajustes jurídicos.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93071" y="8794323"/>
            <a:ext cx="6130277" cy="10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02" b="true">
                <a:solidFill>
                  <a:srgbClr val="FF4D1B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Em até 5 dias após a assinatura do contrato, será formalizado o aditivo de início da diligência.</a:t>
            </a:r>
          </a:p>
          <a:p>
            <a:pPr algn="l">
              <a:lnSpc>
                <a:spcPts val="2103"/>
              </a:lnSpc>
            </a:pPr>
          </a:p>
          <a:p>
            <a:pPr algn="l">
              <a:lnSpc>
                <a:spcPts val="210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3362412" y="4878374"/>
            <a:ext cx="5708168" cy="35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21" b="true">
                <a:solidFill>
                  <a:srgbClr val="315629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Aceite na proposta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093071" y="6708169"/>
            <a:ext cx="5708168" cy="70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21" b="true">
                <a:solidFill>
                  <a:srgbClr val="012554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Assinatura dos contratos e fechamento</a:t>
            </a:r>
          </a:p>
          <a:p>
            <a:pPr algn="l">
              <a:lnSpc>
                <a:spcPts val="283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3093071" y="8487051"/>
            <a:ext cx="5708168" cy="35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21" b="true">
                <a:solidFill>
                  <a:srgbClr val="FF4D1B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Início da Diligência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83844" y="7025720"/>
            <a:ext cx="5504518" cy="113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Honrar o legado do Colégio</a:t>
            </a:r>
            <a:r>
              <a:rPr lang="en-US" sz="1627" b="true">
                <a:solidFill>
                  <a:srgbClr val="012554"/>
                </a:solidFill>
                <a:latin typeface="Neulis Neue Medium"/>
                <a:ea typeface="Neulis Neue Medium"/>
                <a:cs typeface="Neulis Neue Medium"/>
                <a:sym typeface="Neulis Neue Medium"/>
              </a:rPr>
              <a:t> Cristo Rei, fortalecer sua missão educacional e investir de forma consistente para que a escola continue </a:t>
            </a:r>
            <a:r>
              <a:rPr lang="en-US" sz="1627" b="true">
                <a:solidFill>
                  <a:srgbClr val="FF5700"/>
                </a:solidFill>
                <a:latin typeface="Neulis Neue Bold"/>
                <a:ea typeface="Neulis Neue Bold"/>
                <a:cs typeface="Neulis Neue Bold"/>
                <a:sym typeface="Neulis Neue Bold"/>
              </a:rPr>
              <a:t>crescendo, inovando e transformando vidas.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732353" y="6477690"/>
            <a:ext cx="3523201" cy="36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012554"/>
                </a:solidFill>
                <a:latin typeface="Eastman Alternate Trial Bold"/>
                <a:ea typeface="Eastman Alternate Trial Bold"/>
                <a:cs typeface="Eastman Alternate Trial Bold"/>
                <a:sym typeface="Eastman Alternate Trial Bold"/>
              </a:rPr>
              <a:t>NOSSO COMPROMISSO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595448" y="-538067"/>
            <a:ext cx="5881310" cy="4890701"/>
            <a:chOff x="0" y="0"/>
            <a:chExt cx="977432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7432" cy="812800"/>
            </a:xfrm>
            <a:custGeom>
              <a:avLst/>
              <a:gdLst/>
              <a:ahLst/>
              <a:cxnLst/>
              <a:rect r="r" b="b" t="t" l="l"/>
              <a:pathLst>
                <a:path h="812800" w="977432">
                  <a:moveTo>
                    <a:pt x="30276" y="0"/>
                  </a:moveTo>
                  <a:lnTo>
                    <a:pt x="947156" y="0"/>
                  </a:lnTo>
                  <a:cubicBezTo>
                    <a:pt x="963877" y="0"/>
                    <a:pt x="977432" y="13555"/>
                    <a:pt x="977432" y="30276"/>
                  </a:cubicBezTo>
                  <a:lnTo>
                    <a:pt x="977432" y="782524"/>
                  </a:lnTo>
                  <a:cubicBezTo>
                    <a:pt x="977432" y="799245"/>
                    <a:pt x="963877" y="812800"/>
                    <a:pt x="947156" y="812800"/>
                  </a:cubicBezTo>
                  <a:lnTo>
                    <a:pt x="30276" y="812800"/>
                  </a:lnTo>
                  <a:cubicBezTo>
                    <a:pt x="13555" y="812800"/>
                    <a:pt x="0" y="799245"/>
                    <a:pt x="0" y="782524"/>
                  </a:cubicBezTo>
                  <a:lnTo>
                    <a:pt x="0" y="30276"/>
                  </a:lnTo>
                  <a:cubicBezTo>
                    <a:pt x="0" y="13555"/>
                    <a:pt x="13555" y="0"/>
                    <a:pt x="30276" y="0"/>
                  </a:cubicBezTo>
                  <a:close/>
                </a:path>
              </a:pathLst>
            </a:custGeom>
            <a:blipFill>
              <a:blip r:embed="rId21"/>
              <a:stretch>
                <a:fillRect l="-21811" t="0" r="-1348" b="-19926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8280" y="3848100"/>
            <a:ext cx="13371440" cy="266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9"/>
              </a:lnSpc>
            </a:pPr>
            <a:r>
              <a:rPr lang="en-US" b="true" sz="7860" spc="-282">
                <a:solidFill>
                  <a:srgbClr val="004246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Chegou a hora de </a:t>
            </a:r>
            <a:r>
              <a:rPr lang="en-US" b="true" sz="7860" spc="-282">
                <a:solidFill>
                  <a:srgbClr val="F46825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ascender </a:t>
            </a:r>
            <a:r>
              <a:rPr lang="en-US" b="true" sz="7860" spc="-282">
                <a:solidFill>
                  <a:srgbClr val="004246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um novo futuro para </a:t>
            </a:r>
            <a:r>
              <a:rPr lang="en-US" b="true" sz="7860" spc="-282">
                <a:solidFill>
                  <a:srgbClr val="F46825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sua escola</a:t>
            </a:r>
            <a:r>
              <a:rPr lang="en-US" b="true" sz="7860" spc="-282">
                <a:solidFill>
                  <a:srgbClr val="004246"/>
                </a:solidFill>
                <a:latin typeface="Eastman Alternate Trial Ultra-Bold"/>
                <a:ea typeface="Eastman Alternate Trial Ultra-Bold"/>
                <a:cs typeface="Eastman Alternate Trial Ultra-Bold"/>
                <a:sym typeface="Eastman Alternate Trial Ultra-Bold"/>
              </a:rPr>
              <a:t>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59" y="5356674"/>
            <a:ext cx="4569571" cy="4930326"/>
          </a:xfrm>
          <a:custGeom>
            <a:avLst/>
            <a:gdLst/>
            <a:ahLst/>
            <a:cxnLst/>
            <a:rect r="r" b="b" t="t" l="l"/>
            <a:pathLst>
              <a:path h="4930326" w="4569571">
                <a:moveTo>
                  <a:pt x="0" y="0"/>
                </a:moveTo>
                <a:lnTo>
                  <a:pt x="4569570" y="0"/>
                </a:lnTo>
                <a:lnTo>
                  <a:pt x="4569570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1278" y="0"/>
            <a:ext cx="4361863" cy="3651284"/>
          </a:xfrm>
          <a:custGeom>
            <a:avLst/>
            <a:gdLst/>
            <a:ahLst/>
            <a:cxnLst/>
            <a:rect r="r" b="b" t="t" l="l"/>
            <a:pathLst>
              <a:path h="3651284" w="4361863">
                <a:moveTo>
                  <a:pt x="0" y="0"/>
                </a:moveTo>
                <a:lnTo>
                  <a:pt x="4361863" y="0"/>
                </a:lnTo>
                <a:lnTo>
                  <a:pt x="4361863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732542" y="2205962"/>
            <a:ext cx="1967758" cy="2153601"/>
          </a:xfrm>
          <a:custGeom>
            <a:avLst/>
            <a:gdLst/>
            <a:ahLst/>
            <a:cxnLst/>
            <a:rect r="r" b="b" t="t" l="l"/>
            <a:pathLst>
              <a:path h="2153601" w="1967758">
                <a:moveTo>
                  <a:pt x="0" y="0"/>
                </a:moveTo>
                <a:lnTo>
                  <a:pt x="1967757" y="0"/>
                </a:lnTo>
                <a:lnTo>
                  <a:pt x="1967757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59" y="9849721"/>
            <a:ext cx="4569571" cy="437279"/>
          </a:xfrm>
          <a:custGeom>
            <a:avLst/>
            <a:gdLst/>
            <a:ahLst/>
            <a:cxnLst/>
            <a:rect r="r" b="b" t="t" l="l"/>
            <a:pathLst>
              <a:path h="437279" w="4569571">
                <a:moveTo>
                  <a:pt x="0" y="0"/>
                </a:moveTo>
                <a:lnTo>
                  <a:pt x="4569570" y="0"/>
                </a:lnTo>
                <a:lnTo>
                  <a:pt x="45695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5790" y="9849721"/>
            <a:ext cx="5006850" cy="437279"/>
          </a:xfrm>
          <a:custGeom>
            <a:avLst/>
            <a:gdLst/>
            <a:ahLst/>
            <a:cxnLst/>
            <a:rect r="r" b="b" t="t" l="l"/>
            <a:pathLst>
              <a:path h="437279" w="5006850">
                <a:moveTo>
                  <a:pt x="0" y="0"/>
                </a:moveTo>
                <a:lnTo>
                  <a:pt x="5006850" y="0"/>
                </a:lnTo>
                <a:lnTo>
                  <a:pt x="50068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9849721"/>
            <a:ext cx="4788210" cy="437279"/>
          </a:xfrm>
          <a:custGeom>
            <a:avLst/>
            <a:gdLst/>
            <a:ahLst/>
            <a:cxnLst/>
            <a:rect r="r" b="b" t="t" l="l"/>
            <a:pathLst>
              <a:path h="437279" w="4788210">
                <a:moveTo>
                  <a:pt x="0" y="0"/>
                </a:moveTo>
                <a:lnTo>
                  <a:pt x="4788210" y="0"/>
                </a:lnTo>
                <a:lnTo>
                  <a:pt x="478821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13571" y="9849721"/>
            <a:ext cx="4569571" cy="437279"/>
          </a:xfrm>
          <a:custGeom>
            <a:avLst/>
            <a:gdLst/>
            <a:ahLst/>
            <a:cxnLst/>
            <a:rect r="r" b="b" t="t" l="l"/>
            <a:pathLst>
              <a:path h="437279" w="4569571">
                <a:moveTo>
                  <a:pt x="0" y="0"/>
                </a:moveTo>
                <a:lnTo>
                  <a:pt x="4569570" y="0"/>
                </a:lnTo>
                <a:lnTo>
                  <a:pt x="45695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DAHVjN3PDcY</dc:identifier>
  <dcterms:modified xsi:type="dcterms:W3CDTF">2011-08-01T06:04:30Z</dcterms:modified>
  <cp:revision>1</cp:revision>
  <dc:title>Modelo de Apresentação de Proposta_ Rede Lumo</dc:title>
</cp:coreProperties>
</file>